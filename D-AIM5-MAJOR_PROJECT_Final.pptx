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437" r:id="rId4"/>
    <p:sldId id="438" r:id="rId5"/>
    <p:sldId id="258" r:id="rId6"/>
    <p:sldId id="259" r:id="rId7"/>
    <p:sldId id="456" r:id="rId8"/>
    <p:sldId id="455" r:id="rId9"/>
    <p:sldId id="442" r:id="rId10"/>
    <p:sldId id="460" r:id="rId11"/>
    <p:sldId id="445" r:id="rId12"/>
    <p:sldId id="457" r:id="rId13"/>
    <p:sldId id="458" r:id="rId14"/>
    <p:sldId id="465" r:id="rId15"/>
    <p:sldId id="466" r:id="rId16"/>
    <p:sldId id="468" r:id="rId17"/>
    <p:sldId id="469" r:id="rId18"/>
    <p:sldId id="470" r:id="rId19"/>
    <p:sldId id="471" r:id="rId20"/>
    <p:sldId id="472" r:id="rId21"/>
    <p:sldId id="473" r:id="rId22"/>
    <p:sldId id="474" r:id="rId23"/>
    <p:sldId id="475" r:id="rId24"/>
    <p:sldId id="439" r:id="rId25"/>
    <p:sldId id="440" r:id="rId26"/>
    <p:sldId id="476" r:id="rId27"/>
    <p:sldId id="447" r:id="rId28"/>
    <p:sldId id="477" r:id="rId29"/>
    <p:sldId id="478" r:id="rId30"/>
    <p:sldId id="441" r:id="rId31"/>
    <p:sldId id="467" r:id="rId32"/>
    <p:sldId id="449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>
      <p:cViewPr varScale="1">
        <p:scale>
          <a:sx n="78" d="100"/>
          <a:sy n="78" d="100"/>
        </p:scale>
        <p:origin x="161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wrap="none" lIns="0" tIns="0" rIns="0" bIns="0"/>
          <a:lstStyle/>
          <a:p>
            <a:r>
              <a:rPr lang="en-IN"/>
              <a:t>Click to edit the notes format</a:t>
            </a:r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320" cy="534240"/>
          </a:xfrm>
          <a:prstGeom prst="rect">
            <a:avLst/>
          </a:prstGeom>
        </p:spPr>
        <p:txBody>
          <a:bodyPr wrap="none" lIns="0" tIns="0" rIns="0" bIns="0"/>
          <a:lstStyle/>
          <a:p>
            <a:r>
              <a:rPr lang="en-IN"/>
              <a:t>&lt;header&gt;</a:t>
            </a:r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dt"/>
          </p:nvPr>
        </p:nvSpPr>
        <p:spPr>
          <a:xfrm>
            <a:off x="4279320" y="0"/>
            <a:ext cx="3280320" cy="534240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/>
            <a:r>
              <a:rPr lang="en-IN"/>
              <a:t>&lt;date/time&gt;</a:t>
            </a:r>
            <a:endParaRPr/>
          </a:p>
        </p:txBody>
      </p:sp>
      <p:sp>
        <p:nvSpPr>
          <p:cNvPr id="37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320" cy="534240"/>
          </a:xfrm>
          <a:prstGeom prst="rect">
            <a:avLst/>
          </a:prstGeom>
        </p:spPr>
        <p:txBody>
          <a:bodyPr wrap="none" lIns="0" tIns="0" rIns="0" bIns="0" anchor="b"/>
          <a:lstStyle/>
          <a:p>
            <a:r>
              <a:rPr lang="en-IN"/>
              <a:t>&lt;footer&gt;</a:t>
            </a:r>
            <a:endParaRPr/>
          </a:p>
        </p:txBody>
      </p:sp>
      <p:sp>
        <p:nvSpPr>
          <p:cNvPr id="38" name="PlaceHolder 5"/>
          <p:cNvSpPr>
            <a:spLocks noGrp="1"/>
          </p:cNvSpPr>
          <p:nvPr>
            <p:ph type="sldNum"/>
          </p:nvPr>
        </p:nvSpPr>
        <p:spPr>
          <a:xfrm>
            <a:off x="4279320" y="10157400"/>
            <a:ext cx="3280320" cy="534240"/>
          </a:xfrm>
          <a:prstGeom prst="rect">
            <a:avLst/>
          </a:prstGeom>
        </p:spPr>
        <p:txBody>
          <a:bodyPr wrap="none" lIns="0" tIns="0" rIns="0" bIns="0" anchor="b"/>
          <a:lstStyle/>
          <a:p>
            <a:pPr algn="r"/>
            <a:fld id="{51811100-C181-4161-81E1-C1B1D191B141}" type="slidenum">
              <a:rPr lang="en-IN"/>
              <a:pPr algn="r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66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49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11216171-A131-4111-8101-11D1D10191D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</a:pPr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71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C161C1D1-A141-41A1-8121-0111B131A1E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</a:pPr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51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111131C1-D111-41A1-81D1-3111B1E131A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</a:pPr>
              <a:t>5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53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D19121C1-21D1-4161-B1F1-C141D191815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</a:pPr>
              <a:t>6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51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111131C1-D111-41A1-81D1-3111B1E131A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</a:pPr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65C8F-EA84-FBB3-7EB7-AF9367D80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>
            <a:extLst>
              <a:ext uri="{FF2B5EF4-FFF2-40B4-BE49-F238E27FC236}">
                <a16:creationId xmlns:a16="http://schemas.microsoft.com/office/drawing/2014/main" id="{C9774F59-E21B-0208-868B-7EF74392178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53" name="CustomShape 2">
            <a:extLst>
              <a:ext uri="{FF2B5EF4-FFF2-40B4-BE49-F238E27FC236}">
                <a16:creationId xmlns:a16="http://schemas.microsoft.com/office/drawing/2014/main" id="{ADC79E42-1713-0CC6-0E28-47D90A0036EA}"/>
              </a:ext>
            </a:extLst>
          </p:cNvPr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D19121C1-21D1-4161-B1F1-C141D191815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</a:pPr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7694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65C8F-EA84-FBB3-7EB7-AF9367D80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>
            <a:extLst>
              <a:ext uri="{FF2B5EF4-FFF2-40B4-BE49-F238E27FC236}">
                <a16:creationId xmlns:a16="http://schemas.microsoft.com/office/drawing/2014/main" id="{C9774F59-E21B-0208-868B-7EF74392178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53" name="CustomShape 2">
            <a:extLst>
              <a:ext uri="{FF2B5EF4-FFF2-40B4-BE49-F238E27FC236}">
                <a16:creationId xmlns:a16="http://schemas.microsoft.com/office/drawing/2014/main" id="{ADC79E42-1713-0CC6-0E28-47D90A0036EA}"/>
              </a:ext>
            </a:extLst>
          </p:cNvPr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D19121C1-21D1-4161-B1F1-C141D191815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</a:pPr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76941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4859A-371C-7D95-AC74-6F4B75A68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>
            <a:extLst>
              <a:ext uri="{FF2B5EF4-FFF2-40B4-BE49-F238E27FC236}">
                <a16:creationId xmlns:a16="http://schemas.microsoft.com/office/drawing/2014/main" id="{8164D338-C2F9-1E65-AB81-2D4C67F7214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53" name="CustomShape 2">
            <a:extLst>
              <a:ext uri="{FF2B5EF4-FFF2-40B4-BE49-F238E27FC236}">
                <a16:creationId xmlns:a16="http://schemas.microsoft.com/office/drawing/2014/main" id="{3893FFA7-921B-ECA3-48FE-9E1C67B9E79A}"/>
              </a:ext>
            </a:extLst>
          </p:cNvPr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D19121C1-21D1-4161-B1F1-C141D191815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</a:pPr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7460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E631D-A10F-FE9E-810A-7F1975A5D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>
            <a:extLst>
              <a:ext uri="{FF2B5EF4-FFF2-40B4-BE49-F238E27FC236}">
                <a16:creationId xmlns:a16="http://schemas.microsoft.com/office/drawing/2014/main" id="{F7B00E4A-ECBD-4F6A-3DD0-24088D824D1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53" name="CustomShape 2">
            <a:extLst>
              <a:ext uri="{FF2B5EF4-FFF2-40B4-BE49-F238E27FC236}">
                <a16:creationId xmlns:a16="http://schemas.microsoft.com/office/drawing/2014/main" id="{9172F57A-E616-5A81-6FA2-F1E9AD202EE1}"/>
              </a:ext>
            </a:extLst>
          </p:cNvPr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D19121C1-21D1-4161-B1F1-C141D191815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</a:pPr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9161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53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D19121C1-21D1-4161-B1F1-C141D191815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</a:pPr>
              <a:t>12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AE105-9EE0-F229-8300-652373C3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>
            <a:extLst>
              <a:ext uri="{FF2B5EF4-FFF2-40B4-BE49-F238E27FC236}">
                <a16:creationId xmlns:a16="http://schemas.microsoft.com/office/drawing/2014/main" id="{7BE8A3A3-8BAC-971C-6865-80D8B17AB87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53" name="CustomShape 2">
            <a:extLst>
              <a:ext uri="{FF2B5EF4-FFF2-40B4-BE49-F238E27FC236}">
                <a16:creationId xmlns:a16="http://schemas.microsoft.com/office/drawing/2014/main" id="{64FE903B-C31C-0A76-3A96-BDEDBB2ADD87}"/>
              </a:ext>
            </a:extLst>
          </p:cNvPr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D19121C1-21D1-4161-B1F1-C141D191815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</a:pPr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07965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71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C161C1D1-A141-41A1-8121-0111B131A1E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</a:pPr>
              <a:t>14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22C2F-4FC6-9288-0AFC-CD1D80ECE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>
            <a:extLst>
              <a:ext uri="{FF2B5EF4-FFF2-40B4-BE49-F238E27FC236}">
                <a16:creationId xmlns:a16="http://schemas.microsoft.com/office/drawing/2014/main" id="{5545E18D-9927-08CD-4D9A-3D2EEACCD9C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71" name="CustomShape 2">
            <a:extLst>
              <a:ext uri="{FF2B5EF4-FFF2-40B4-BE49-F238E27FC236}">
                <a16:creationId xmlns:a16="http://schemas.microsoft.com/office/drawing/2014/main" id="{08621135-6695-CD50-D6A6-E8437658D9FB}"/>
              </a:ext>
            </a:extLst>
          </p:cNvPr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C161C1D1-A141-41A1-8121-0111B131A1E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</a:pPr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01086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2BC49-7207-A754-8BD3-92FBADE38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>
            <a:extLst>
              <a:ext uri="{FF2B5EF4-FFF2-40B4-BE49-F238E27FC236}">
                <a16:creationId xmlns:a16="http://schemas.microsoft.com/office/drawing/2014/main" id="{AEA1A50C-D140-FE23-8074-2808D13C016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71" name="CustomShape 2">
            <a:extLst>
              <a:ext uri="{FF2B5EF4-FFF2-40B4-BE49-F238E27FC236}">
                <a16:creationId xmlns:a16="http://schemas.microsoft.com/office/drawing/2014/main" id="{EA3EDE55-F823-2010-0487-7216CE1795D7}"/>
              </a:ext>
            </a:extLst>
          </p:cNvPr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C161C1D1-A141-41A1-8121-0111B131A1E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</a:pPr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78026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71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C161C1D1-A141-41A1-8121-0111B131A1E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</a:pPr>
              <a:t>24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FD88F-D2D1-0874-D9CE-C1AC0C236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>
            <a:extLst>
              <a:ext uri="{FF2B5EF4-FFF2-40B4-BE49-F238E27FC236}">
                <a16:creationId xmlns:a16="http://schemas.microsoft.com/office/drawing/2014/main" id="{BE6B4585-6B72-4076-A9D0-5EC364354B8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71" name="CustomShape 2">
            <a:extLst>
              <a:ext uri="{FF2B5EF4-FFF2-40B4-BE49-F238E27FC236}">
                <a16:creationId xmlns:a16="http://schemas.microsoft.com/office/drawing/2014/main" id="{7C491715-FE21-0527-2007-589AF16E2953}"/>
              </a:ext>
            </a:extLst>
          </p:cNvPr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C161C1D1-A141-41A1-8121-0111B131A1E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</a:pPr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7158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046360" cy="39772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04636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392616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9920" y="1604520"/>
            <a:ext cx="392616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85800" y="2130480"/>
            <a:ext cx="7771680" cy="34509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57200" y="368136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9920" y="1604520"/>
            <a:ext cx="392616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392616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57992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9920" y="368136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57992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1360"/>
            <a:ext cx="804564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0463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1360"/>
            <a:ext cx="80463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992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9920" y="368136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57200" y="368136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992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5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r>
              <a:rPr lang="en-IN"/>
              <a:t>Click to edit the title text format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04636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n-IN"/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IN"/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IN"/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IN"/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IN"/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IN"/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IN"/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522658" TargetMode="External"/><Relationship Id="rId2" Type="http://schemas.openxmlformats.org/officeDocument/2006/relationships/hyperlink" Target="https://ieeexplore.ieee.org/document/10255157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eeexplore.ieee.org/document/10031629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522658" TargetMode="External"/><Relationship Id="rId2" Type="http://schemas.openxmlformats.org/officeDocument/2006/relationships/hyperlink" Target="https://ieeexplore.ieee.org/document/10255157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eeexplore.ieee.org/document/10426506" TargetMode="External"/><Relationship Id="rId4" Type="http://schemas.openxmlformats.org/officeDocument/2006/relationships/hyperlink" Target="https://ieeexplore.ieee.org/document/10031629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treamlit.io/" TargetMode="External"/><Relationship Id="rId2" Type="http://schemas.openxmlformats.org/officeDocument/2006/relationships/hyperlink" Target="https://www.tensorflow.org/" TargetMode="Externa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5407" y="1478014"/>
            <a:ext cx="86934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Cervical Spine Fracture Detection from CT scans for Automated Trauma Diagnosis and Clinical Decision Support</a:t>
            </a:r>
            <a:endParaRPr lang="en-US" sz="3200" b="1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0" y="3235204"/>
            <a:ext cx="41910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Name of the students: </a:t>
            </a:r>
          </a:p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A. Shiva Shanker - 22H51A7301</a:t>
            </a:r>
          </a:p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E. Vamshi Krishna - 22H51A7322</a:t>
            </a:r>
          </a:p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G. Gouthami - 22H51A7323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ea typeface="STZhongsong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5072" y="4546079"/>
            <a:ext cx="5181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64008" lvl="0">
              <a:lnSpc>
                <a:spcPct val="150000"/>
              </a:lnSpc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esteemed guidance of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Mrs. K. Navaneetha (Assistant Professor)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147103"/>
              </p:ext>
            </p:extLst>
          </p:nvPr>
        </p:nvGraphicFramePr>
        <p:xfrm>
          <a:off x="1524000" y="228600"/>
          <a:ext cx="7010400" cy="95119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01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95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CMR COLLEGE OF ENGINEERING &amp; TECHNOLOGY</a:t>
                      </a:r>
                      <a:endParaRPr lang="en-US" sz="20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99" marR="9199" marT="6133" marB="6133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5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Kandlakoya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Medchal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Hyderabad - 501401</a:t>
                      </a:r>
                      <a:endParaRPr lang="en-US" sz="20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99" marR="9199" marT="6133" marB="6133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5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of Artificial Intelligence &amp; Machine Learning</a:t>
                      </a:r>
                      <a:endParaRPr lang="en-US" sz="20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99" marR="9199" marT="6133" marB="6133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722" name="AutoShape 2" descr="data:image/png;base64,iVBORw0KGgoAAAANSUhEUgAAAEwAAABNCAYAAAAMy4KOAAAAAXNSR0IArs4c6QAAIABJREFUeF7tvAezG1eW5/lLB48H4HnDRyuKIiWR8iVHUa5LrlS+a6Z7tmNntmc+205P9O5GlXyVRIqkbMmXRO+e9wYeSL9xTiZIVmxsxHyAASP1BCCRee//HvM/5qYRx3HM/3r9TyNgCGDR/+f0GPmHHvIa/DX0nYGBwhzL/4FhJH/ls+RzOUdP1FcUh0RxhGEZmKZFLF9EoR4mAQYRxB74fXB7yXd2Bpws2Dk9QsNBzo707gaWARYhRhySrLlJjJXedDDOuyYmpxgxhg54MLfo7+aZfConyLWM9P/1B3ohR38ax3GQ4nFH1ORCIbExgDL5xlCADEEIYhNB2pR/A8CiZK4yflNua8oAYvwwICTAtA0sO6MDiUIfM+hjRy4mLoQt4vY2UWOL2HMx8yXM0jAUh6EwjGcVcSOHAAvDMMmYMVl8rMgjFtBwiMgQx5YupJkOc7DuMiaFwJSFi4mNAOR3OscEOJllhCyoTaSLI9dKFxgoyTUFsFDRT+VIsYmIDRnEHQlLoUrXVyTMVGDkczOBUVc6jtLVlYvrlVIJE9kQsRAJE0kMPczQxQ57GEGbuLuFt71Me2OJwO1RqAyTH5nEqk5hVKYIs1X8OIMXy2QMbCMBzI59nTiGTWw4xLJUcTIiESS9lwxCpTDCECkT0MwIDPndHW3S0xSoBDC9lgIoUENxIGGRXDRVIb2J/EuRv1tbB8Ak6A7U8rbmpSNLkFLRH6ipam8i4vJX7xb5mJGL5Teht0u4u0R79Qa7K3O4/S6lao3KxB5y4wewxw8QFycIjTxu7BCKBKk8BdgDlRY4DJVrTFXNRNKIBuOU1U2VzkiASwAT4JLPVfJT1RawkkMAS/DJDwCTFbgNWCpVcq/k0zuKOpAyBSuKE4lKfYbaIV1BMFQf7kLLsIhNmyhOzpKvzTjAiMRm7UBzFXf1GruLl9lauk6316ZQGmJkej/VvUfJ7TmGUZ0ltkp45PBjE6IIOw7IiLQYEVEcqK0UdbUMG0MtjoAmEpeuXrpWiZGVkQhgKWgpYANbeAcwAS1BIXsbMLE7inKi5wqV6usdw50oX2rEBawoWRkFKNX+mEAHIoAktxDbICucUXkII1n5GMuMMY0AU1SxvYa/NUd3+RKtlau0NxZx3Q5mJkd5dIba3qOU9j6ANX4P5EcJzSJ+7OiCidF3VFoELI8IX8djKmAZtT/ENob8FfVS26s2IjEWKl2DQ0BMDPzfgzUw/ncZfTFiA3s1AOUOVqm0DOwUMZGAJV5PxyBnir0LCGNPTDymIYAkKqA3j/NEUYFIAItjLCvEkvO8OuHuPN3Vq3SWLtBbv0HQWCcMXELTIluZYGj6XgUsM3UfVmUPcbZKYGSJIlG9CNsQLxsQ0SOkn1pNAcmB2MEko4dhqI9TnBKjLbZsoKapWopGp94xMSGJdKrnNECWQY0+gUw4Af/vABNxVruTfK4SLYskOqzGUyRMKINPEHbxgi5h3FdAbKUQ8kO5TRniCmFoqWRaZoAddTF7m3jr12ksXqC9dIFwZx7HbWAQEhkW5KvYI/vJTd2napkbO4g1NEVkldSDJVMSwES6OgSx3N9X1Y8jByPOYpPHtgpYRlYlTc1P6uXuLHgqZQpYaohSabsbMMuwBoAFiYQNDNkAHtX9u/R/4ElT6RHbEePiBh3a3V3a3R3coIVlB2SyJpmsjW3nyVgjZM1RDGTQYBlCKdrQWqG3fIXG/I90ly5iNpfIBR0c2yAybHy7iF+cwBq7h/zeByjPHCEzug+cIURGxWaBRxj36Hk7dNw6ftAnDEUSsmSsMvlMjUK2Rs4pYRmZxIvLz+62NmrTQjGsifEfSM1tJ5WcbxqyCCphfnLibcAGhvIuwAbSpQ5SJEskLNTBtvs7bNdX2a6v0OltY1geuaJNrpghlylSzE5QdKbI2SUc08YxQgy/SbizSGfhIs25H+kvXybTXqMQd8k7NrGVoRtnaDtVotp+CvsfpHrgAfKTByFbwYvB8/sEUR83bNPorlNvb9Bze0SB0I4ixdwo1fIUtdIkpVwNx8wnPC1hE7e1KeFHd2zZwJ4ntvw2ephGJgEsjry/B0yNZaKOd7/US8cxoRK+EMuO1XY0u5usbs2xsnGT3dYqAR2yeYO8AJYrUMyOUclPUS2OUsmVKVomhtvE31ygPXeZ1twFwtXr5LpblOiRdxxiK0srMKkbBfzaLKVDJxi+9ziFqYOE2RItv0ejVafTa9L1m9S76+y2Nun2+8SBTc6uUqvMMDlygPHaXiqFMTJmkTiylVxbQq7NO44s8ZyppN3FDu5Im0iYaIi+BoClEqVgCWgp30tRS7x5hBf6auRtR+7q0upvsbJ1g4W1q6zvzuMGDaxsSDZn4NgZsvYQQ/lxxoYmGa+MUsvmyfg9vLVFmjcu0Vu4irm1SLG3SzHuk3NssLK0A5MdI4dbnaF06AFq9x0nNzVLz7LZ6jbY2tmg3tqm4zXphk26bodu3yMOMxSzo4zV9jIzfpjJ4QNU8uM4RpEotAkDmZ1BxjZTL59OUB1YQo8GlOoOqboLsAgvlSWhAAkpVYZ7V2yo4imAxRGu76oLdzIxpuXT9rdY2b7B3OolVrZu0vV3wOpj2RLnCV/KUsrWGK9MMD0yxUS5SjkGd3WZxpWL+Mvz5JqblPsNCqFLxjQx7SzdyGLbzNGrTlI8eJTqkaNY4xPUY5+V+gYbO2vsNjZpe00iJyI0DfpuTBxmKeXHmRzZz96JI0zUDlLOjGFTVMcjFsg2LLKOiSVSlqpnon1ilwegDZxAYttMcomE+bGbGEGNCZPQQoyjgCegCW3Ri6mWikqKG/fA9IiMfgLYznXmVy6xvjuHFzexMj6R6eK7PczQpOgUKToFavkqM7UJZkpVwvVNNn/6EWNjnRGvR9ltYffaGEGI5eTwrTx1p0CzWCOz/yDlQ4fwKiXWenXWWhv0/BZ9v0mj3yK0ILKz+IH8T4FyfkLVcc/YYcYr+yk5Aph4a4c4tDQecMw05tS5D/jkgPWLZ0g5aSqAtjqtOI57US+JvQy5gLjOFLA0K6HOIA13hEpEhISGS0yfkC7tYJu13ZvMr15ibecWXtTAyonc+wR+VwFwsHAik7JTYnZ4mgPDkxhbDdZ/vIC1scVY4FPxuti9LvgBhpXBs3M0FLAhMvsOUDy0j27BYbG9wXp7ndDoEtCl5XYJbYdYvGpgJ4DlEsBEJcdK+yjaY1iUE06WklkNbe+y1Amn/P8HLDMArBm2NYA2Dck8iHYnoN0JCNOUTSphyrvoK2CR0aMX7rDWnFPAljeu0/F3FLBMLsY0feKgT9yX9E1IyS6yd3iGA8Mz2Ds9Ni9exVjdZMT1qHku+TDACCVXYtLBounkaZeGyB0QwGbpFi0W2qust1bxjZZKeC/0IFMCq4Tr2cRBjpJI2OgBZsYOM1rcR8EUwEqYMmmloCJlhjKJQcQkvE7E4W6V1ARCGgXlBirZjDpJ1kEBS4JXASyJk5WppsxMLihUwlNWHZsusdFXidruLDG/foWF1SvUO+vEVp9MwSCbjTFil8DtEvd9ClaB2doeBSzbCti9fJNgaZ1yu0vN8ykro9ZMF60wpm5l6VarFA4eoHBghnYhZqG5wlpzGd9oJFIskzQLhJTwvQwWRSqlSSZHDzE1cohaYQ85s4ZJAYMcZizs39G5DuyX2uvb4dwgT5basPSk/G0Ji1OVVHKmGS7MWP47cI+aB0oSfRICCVkkAcswhTi2abjrLG+JHbvCxu6iciMnF5PLG1iWj+91CfsueSPPzPAe9g/PUOxB+/oivbkVsrt1Kp5PzbTJWhnNPDSCkF3LwR0eoXjwANm9EzSzgQK23lzCp47pBMSmQRjlCIICxAVyTpVhoRSjBxmvHmAoN4ljVBQsIbQiZRoySTSRusGBIqqESVIhjXsSapqQ2YKqcxzHLSQGTKVIk38GluaUkoyQedtdyroLI5ZQSn7TwzCEkvTpRbtstBZYWLnCysYcze4WkemRycbYGYm+XPx+n6yZY6a2h721aaq+hbu4TvvGIvH6BkOeS82wKGYLRKZNI4yoWw7B6BiFAwewpoZpWB4LrWU2Wiv4UR07I/bOwvcsAi9L1qlRLU8yMbKXidEDDJdmyVsjmJQgFqMtKpnV2NKQLMpdweBAGZMsjOZe/o64FgahUQNh+lEiRZprEmInaeABYKKaEoRJ3CY0OSCOXeKwi2G6GHaAb3RodlZZ27zF8votdhsb9CUbYfqYGQiNEM91cYwcU9VJ9lQmGCFLvFmnc2sBf3mJYq/LEFDI5MHJ0AyhnclhTEyT3buPoFZihz4r7XV2Oht4UR0nE2FbJkEfIs+hXBxjfGSWidF9jNT2UsxP4BhVjLhAHGVAYsxBMG46tzMUaVx+m7IKQxDxUIuUgioKrRJWl7SMhvGxSpOm3+Ikq6lZ8kHaMpLzJIUTEId9Yr+tKmlkImLLxXO32dldZn1rkZ36Ou1eHTfqE1oRvhHjej62mWW0NMJkaZgJO0+206M7v0h/YY5su0khDik4ST6/E1v08yWcmf3Y03voFrJsBl02uju03F28qEnGCclYJvRjzNChNjTO5Ng+xkb2UhqaIuOMYIh0RXkFS4NyyZXJKpqWJO9STmGm0pRkJ5IUdRJ23gEsTVHXBx/HcpoY3TuHIZIl6RwBS2NOoQtiIT1wW6qOZGKwfaKgidfdotXeotXdpdtv0nY7tEKPVuDRc30drIRHtUyeyUyRahjgrS7TXbiJ09wh4/VwpBhg5+hLsFwZIb/3MExMs2uZrPW71P02bixxZBvb9MnbJnksCmaOanGY4eoU5fIkTn4U0x6CuAhhLk0BZhOwlIWnXEnuZ1kJgGaSaRUkBKzbnD+GwiCn30gFUaRLTrfTQ5OzEnj5HgRCC0QNJZUSEAY94n6TWLKmttg1nyhsE/pNoqinxNaL+nT8Pu04oh1B25VzRCFschGMZ3KM2xBsrtJduonZ2MLsNTHCCOwsgZ3HHJmifOgYjEyxGYSsdjp0JLOaFXPcx8KjYEu+3aQQW+StPLlMGSdTUbAMs4yh3rGAYRUw7DyGncOyJEeWgiQSakk4ZoMptQFLnY7YMAUtdQy3ARM5GaQ7ErAE3wAzBSuW0le/C16HyO3ieT3cXpOw1wQBTMCKPYKgo+keiSHzBUfFtBeHuE4WN5Oj40e4bkjkhsTdPsOOzXTBIdpdo7N8k6i+QdjaIZYFkjJbtkx2YpbK4RMYtQnWO33WW1082yRXymKaHmbcp2CGFMIQpx9geBFRYBKFonp5DKOAaRYxrSJmpoSZLWFlimTyRex8EcMR9bTTsl6iqrFlaz5uIGWyfvIqivYmXjLN94hmGQJYiBl7GH6fuNskaO4QtLaJu3XCbp1+c4decwu/11BbBilgkvWwIk3rFIp5sE1c08SqDuMMT+CZWYLQROKY0A0oORmGcw5Rc4vW6hy93VU6O+v4bh8nk6MwVKM8tY/y/qOYxWEa3T6Nbo/IFM8rVqJN5DfJBD3MVou41SbqeQReRBhIpjcLRg6sPIaVx3QKmE4RK1ekUBulNDqBUxzCzBYwMkVQZyPjzhGZWc25Sa5RLLcImXBEBayRsl0x8I4CJmy7pwAFu+v0t5Zwt5eJWhta4YnaOwSdHUKvBWFPvacQWmXEtomTy+Bkc4SmAGZhDCWAxbkypuTEnDKWnSdXKJPPZon7bdqbyzQ2l9jaWKLf61Aolhgbn6Q2vY/c6CymmcVtd+h22/h+j0jiyN4WkVsn43cxOy1otcELiIJYk4hJjTFDbGY1v4aVI7ZyCowzNExxZIp8bZxcZQy7PIKRr6hU45SIrLwWjwP1lonxrwwA2xYTBGQMOWJswwdJ8O2u0lu9SWPpKt21G8TNVRx3l0LcIScpZjnCPoYmmIxEvG0RZ1srO25k0MOka2cIcmWs4jCFoUkqw7MMjezBqU1AXvhRjNvYYmNtjoWlm3S7LarVKvv3H2B0ai+GhD0dl7hRx2vv0q2v09xeoF1fAm+HfOySC3wyfohmnNTzJV5PQJNiXGjaBIYjlUw8I4Nn5bAKw5TGZ6lOHSQ/tg97aBwKNchViOwSoZETw5SSLqgOqkabokkmZPWIsaWY0d+lv7VIa/k6zaVruJu3MNrrZP1dClGbXNwjg4sT++pPNJNkmoSGvLszSM+0FTT5K6uXKYySL89Qqs6QG92DMzKJUSoThi6t+gbr64v0e20qlQpjU1MUh0ZUJ/zNbXorS3Q3l1R13fYqsb9FwepTzhhkxc74IUYQac5OVEkLGVI4NjOEVobAdBS0Pg7twCCwSwrY2N77GJo6iFObxpBKe6aigXwgJkT1LVFJ4Yiqkltu4lUdKb+LhAll6O/S216mtXJDQetvzkFrDcfdUcDy9MkbPlkplyF1wWSQfiTzMwlNyR6IKti4UaiH4RSwsiNY2XGc4iTZ4RlyE3txxiexilm8oEezuY3v9Sjm8xTKZS2Z+fU23aVl2otzuFtLRJ0NDH8bJ96l6LgUHQsztoj8mCiUqlZMqN0MFoYl48gQmhl8w8LFphdbdHxTARua3MfYvvuozhwiU5vWtgScMrGopKm19UEJQNhcasOEvGscGWmHggiu4bXxW9v0thborN6ivXaL/vYCRnuDbNihZPgUTJ+sqaaRKArxwwg/kNSiqaGN1BZNYeGhSxR62E4eOzuCb9ZwzQrkRsiP7aG8Zx+5qXEo55MWhUgiihgj8PG26zQWV9lZWKC/tUrWbVA2uxSMFna4DcEusS9VK5NQcl0S8lgOpiNHBsNJ7JeHRS+EThDRDSxCu0CuMk51ej/DM/dQmtiHVRmH3BBYBTBzhCpdYmISp3i78t3VzKrET9INE0jJFVs8n9chbG/jbS3TXZ+ns34Lb3cFOjs4QYdc7Cm4pvY3RISqClLxMYl10FlV9TjoaWeOLattDdGNy3TjIlFuhOLkXkYOHKK0dwajWiTUOFVKcSb0erRX1ti6tcjuwiL+zgZ5v82w4zJk9ciEO8TeLr7n4kkLgZVX7yb3lvhSq+2WSJej6ugbNp6AYOXIlEcYGt+jR35khkxlHCM/BLaAlU0cBdIxJJwsUcncwOhLGK3FjVBixCDpg5GoQY1Hh7i1jbu5QndjXm1If3eFuL2LFXSxhFZIPkrDpiR1KQNVwCw74cxBDzvoIXW9gCKdqEDXKBGVRilP72f04EFKe6aIyg7dyNUiSy6bwXQ92ivr7C6t0VxaJdzZIttrUKFHxeyRj5vg1/F8D9fI4jslQiubcCjDVMcjKiWgxU5OOZiRK2IWhiiNTFGd2qte0irW0nxaDqShxRCPKoClJDa1YZkBD3O1vUXskDB7aSgST5lEVFIkxesStXcJm1u4u+t0NhZwt1eJug0it03gdogkEtD2gaRDRwYtVzCjgEzoIv7GMS0t9XtWhagwjD08SXF6D4WZaYxqjnbUYaO5ST/0qJRKGlOaXdEjj2C3hb+xhbe+jFHfJOc1KdIma0jWN6JvOPSMHJ5IlDid2MCLUKmKnTyZYoVCdYzi8DjZ2hiFkXFy1THMQkXZvzQCJB1Jwv4zGJaEUFLXSNP0coadBt+uUAMtOUlCLekP0t4JiS0NIbE+hmRN3Q5hr4Hb2CCobyQgtsXVN/DkO18I7CANZyh+Ei1k4oCCeGCxadkKcXEEhkawqiPY1SHCUoYmXTa7G6zsrNLzuhQKOSqFMsPZCiO5KoUwQ7DbxltZxV9fwWzvkA1aOJHElAH92KAnqieSIelq0yGSw85h5kpkyzWKtXHyIxM41RGcQkJYhagaEltGpo5Xahmm5YAcaUYwyW7FWFJlEi/p+i0sy8IUQy0mPBLjHRKHofZISPOIJV0ypGkdtw3dBrR3iRo79Bs79BS0LkEgjSFp/6KkiGJpQzHI2w65fFFth1kbx6gOExcLBKbPjtdgubXMUn2BtfoqHSmGWCbVUoX9Y/u4Z+oeJorTGH2I13dwV1cJd7cxew2VfgnV+mGIL5ItUpnJYWUKCoiAZReGyJRrZIeGMSsjIFIl9jQyMCTFI4fY3kjSWxJ/20mcqaWypHQmdtWwpGdDOhD9enKSXETcs9ADdc9JJ45lGdhSYYkDgqBHT6Vql7jbIG43CNp1+p0mnsScUlazbTLZLJlMBtt2yGYKZDKFZHASngxVMSplJD3VdOust1ZYbMyx1lqg3tvS1gMpzxWzJWZHBbCj7KnuJx8VMJsBNDrEnQ6G1yP2ekpDwkikOzErsrRitwy5Z6ZInMkTZwqQK0JW3he0KuVkstjqmESaEkOVdJiljV2aHxzUGiUhkLYK+P0trNSrRbGFHxnCAZOOlaR3ib7r0Wk1aDd3aNW38XtNbOkglDDF7agdC6ReKVVS0XfHoVAoUK7UqI1OURKXbTh03YB2GBNkDOySRWD12eqssrRzjc32Io3+Jl6Y1BjymSJTw7Mcmryf2dphcnGR3lYPd7uNE8FQMU8+axNKb6zfI9asbo9Op0e906PZD5SoWoUh7OKQqmcvNHDDWOuepaEKlcowlaEhCrmszvV2NVGlLckPDlrAJIpJymyNZZxsHitbUM/Q92MloHbG0qKqF4QsbWxz4/p11hbnae6sa7tlOWeTd0TyfIzYJ5bcVr9Pp9MmDEPK5RLTs/s5cN8JpvcfwbZyrK1vcXNhiXqvQW2qwvhslba/w/L2VbY7i+y2lnD9NtlsjkKuzMjQNPsn7mdf5QgEDreuLLM6v0YlX+LIkXuZnp4Eqav22xqT9uo7rK2uceXWAtfnl2i6AeWRSUam9qjx36q32a43NSIZHZtg//6D3HPoANPjw+RtqZilPSlhhBnFONogmGYnrLR7p19fwc7ksCWXbti4IbjCljHpdfssr29w8co15m7dxOt1qZbyTI5VGa2WKGRMpXeWdL/EIc1Gg+WlRTY2N7RjenrvAY6deJyD9x0nkytyY26Fv379HXOLc0zNjvHIz45RHDLZbS9Q7yyx3VjE9VrksnkK+bIWM2bHjjGW289uvcsXn33HpQtXGKmO8Nyzz/DAsSMamRh+B8Pt0t7dYX5hka+//xtffvcDu12Xffcc5f6HHqNYHWVzt8ny2jqLK2t0un2mJiZ45OGHePj4MWbGhrURxhbUUsAkTT+oVUpDs0qY19q4o5KmdI6a9MOIRtdnbmGFv126zOUrV2i3WoyOVLn30H4O7p1hrFoiZ4t9k8a2pLGuUd/l5q2bzM/P0XNdRidmOHriUQ4feRAzV+DC1Vuc/ug8Fy78xOTkCC++/DSH753GsNq0uivUm6v4fodsJksuV6JSnmJ86CBONMyNhWU+/PA83//tAuNj47z5i9d46vGHyQrXi3rYvku7Ifef5/wXX3L6/KfstPsK1skX/4GJ6VkarS5Lq2v88NNFLl26rIH6Iw8d56VTJ3nw6CFGy0WtiBvS4ThIzSddxTjOoBnFbyuNiISH2FlM26EXRNxY2uLMp3/lk88+Y2t7mwMH9vPkzx7nkRMPsGe8Rjkj/aRJiX3QaywNISvrKywsLrBTr5PJF5g9eC97Zg8iDeY/XLjC6T+f5buvv6eQz/HyC8/w8ktPMjtToS/xq1vX/JrQOXEUhewIGavKVt3jq29/4vTHn3L56jUmpyf59W/f4LlnnqBoWUhDuhMG9Dod5hcXOffZF3x49hz1do+HH3+KV954kwOHDqlT2G52+PrbH3jvvfe5duUKszPTvPnqK7x46mn2TY2RNU2VMiuS2FRCNemdlfGkgBF0CULpJJQUTQ7DtNhodPjqh8u8+5cz/PDjBcqVIU4++xTPPP0E9+zfw1AhS8J8pY4nyhtjGVIfDGm0G2xub1FvNjT4Hh6fYGRknI4f8s23P/L+2x/x7Zc/IJ3fzz75M373m9d49MRBDMMnjPra5Ku9sHYG28zjujaXr63y8SdfcO6zz5lfmmd67xS/+w9v8vJLJ6nmCkl0Ig0ursviyiofn/+E9z/8iO16i8eefJo3f/0bjtx7SPlmq+9z8cpN3nn7XT49f45SPs+v3niN137+Igdnp3AMU22X+E4RJDX+ptRXBx2IYT/hXUJdnRxeGHF9cY2/nPmUd/5ymrX1TR56+CHefPM1Hnv4GCOVYkI30vgzkmBZ6IRpYZmWtkO1e11ava4mfnKFPMVCiXbf5fPPv+WP/9f7/PD1BcJeyIljD/Iffv9rXjr1CEMVaa9MO7HVx0vgbrC94/LXry/z4ZmzfP7N16xtrTCzf4J//Odf8dqrLzJWrSEJaWkACIKQ5bUNzpw7z1vvvsfmzi5PPPUMv/397zh25JDGthKE35xf5f33PuD9d9/Vytiv33ydN155mQOzU5ixoYBJNcoQwKSKpo0rgx7XyCPUTmoTwzLZanX58tuf+NO7f+GTz78kVyjwyzff5FdvvsLemVEcWyrjKQ+OQ8JIym4BlmViW1IVMPGiEC8MCSSgt2Icy6brepz9+Ev+/f98m+uX5wh7MdPj07z84ou8+spzHDw4SbmU9tOm9cBOJ2ZuYZsvvvqRTz7/gh8u/Mjm7hqTe0b47R9e5403X2ZmYhJb2ynFVkesrG9x5ux5/vT222xu7/DkM0/zj3/4PQ8eTgDrhjHXbi7y3rvvc/b0GUrFPL958xe89PxJZsZHtFQk2pKxkvZ6AU1Qy4oXTRrqZNJJ4Cw5rYW1TU6f/4K33vuAH/52ganpGf7lX/4Tb77+MrWhrF5Qy3FqvyRhFyShlClCIVtbpIwCvgT08r16UZNOt8df/nyO//t/vMfOZgsjlJ4em3sPH+aFF5/hZ088wPTMkE5KJNj1IzY2ely7vsKFi9e5ePkKl69dYXVjkepIgVffeF4BO7h/HxlbTD8EYcTq2janz57jrbcEsG2efuYp/vCH33P8yD1q0Nt+wN8uXuGD9//MpZ8usGd6ijdeeYXHHz3B8FBJN5bI/eVcbSoUcxXFFLIpD9OCpcQLKHdIAAAVHElEQVTdhvSNhly9ucAHH33MB3/5iKvXbnLw0EH+23/9V9545QXyjnpcBUvEVtvL0w1S0huqtfI08BbuG6Qd1yKR9WaTd989zbtvncaI8+SyJbY2t1UyH3/iIV559RRH799LPpvwoWbb49atLa5eXWB1dZvtHfGAt7g1dw0nG/HMyUd54xcvcfToveRzeU30eUHEyuompz8+z9tvvc3W9iZPP/0U//iH33L8yGEFodHr89W333HuzFmajSYPHDvK8ydPcvjgPnKOo+AI208EQiqNIUEYU8qlgEmDbSghhWHg+iFXrt1Se3H23HmuXb/F7Ows//X/+M/88rWXKDmJFAr4onxJRkO6EgZsJenISCJPQ72SeFJxKovL67z73hm++uonpib3UakOc/naVRYWbzGzb4xXXnuep559mInhYWX6azu7XLo4x41ry9hGgVy2zK0bt/juu6/pdRscP36Y115/gccefZBKuai5dzeIWFzZ5MyZc7z91ltsbKzx6GOP8MtfvMGRw4c00SnAX7l8iYW5OUaGh3noxAmO3Xsvw1Up+srGsUhNjqMhobgz8ZaQdVIb1tMuwwQwkbDL125x+uOzfPLJZ1y9dp3pqSn+9b/8Z379xiuaP9ftLwKLbG6QQzcJpCX2dHtMUgRNtp2IJHZ6fX68dJO/fPgJSytbPPDgCcYmJ/jy26/59IvzGBmfF15+ipdfPcW9hw7p9peF1RW++/YSc9dX2TO5n4Ozh7lxbY6zZ86xsbbMoYMzvP7685x85hFGakOSiKLnRywtb3L27HneffcdVleWOHr0CC8+/zyzs3vodFqsra6ytrKEY1kK1sMnjjMxOobj2JqxSCr9iaF3xD6kH2XtNEXdTT+QxgvxMlduzPPRmbOc/+RTLl++zMTYGP/tX/+V37z5GqVsuptDq+KBXly9h17YTLusU7nTfjOUfgjD/uTLv3H23NeaYDz10kmm9kxz+pPz/Psf/52VzVs8+tSD/PJ3r/GzJ54gZ+W5Pn9Lmb0A9tgDj/Hk4z/j2sUF3vrjB8xdv87M5AhvvPE8P3/xSUZHq7oPpO9FLC9v8sknn/LB+++zuHCLvbN7eOSRhxmuVVlbW2FxYY5+t8vRI/fy+uuv8/D99+M4sr3ndlcqYSit9UIlkv44wbAwkLBOWgoXchaGEfMrG5z75DM+/Ogjfvzpb9Sqw/z2N7/hF2+8yvTEKBnb1qA0SWkn/EtTyqkKasUmbQGVa4qELW3ucPr8X/nq65+ojgzzwksnmdk7w5fffs87H7zL3y5+R7mW4+lnn+DUC6cYGxnnwoWLfP/tRUq5CieffoZ79h/g6sV53n7rz/z0/Q/kcw6vv/o8v/nly8xOjitgvi9Gf4ezZz/h7XfeZmV5kaNio049x9jYKEsL81y6eJHFxQVqlQovPH+KZ596munpKTIZW01H4Etay8RxhCYZ6kh8P2Y4n3rJQU5/kP7ZrDf469ff8t4HH/DV139V9E+dOsXrr7/G/UePMFQopH39g+7idGfuXRu47t6EI4DeWlnjvQ/PceHSNfYfOMALLz3LzN5pLl+9xblPP1G13Nxe58ChfZx87iSze2a5du0GSwurPHD0AZ57+kmGhoa4emmO99/7kC8//wLP7fPzfzjFf/rDr7hn7x7d7CCSsbq+w8dnzvOnt/7E2toqTzzxGL/4xevqDZeWlvjhhx/5/vvvNNS7//5jPHfyJA8+8ADjo1p51C4jibgzjq0SJtf0g5ixAWB9KYeHA2ph0nX76sIFsDNnz1BvNLj//vv51a9/xamTzzJeq93pZtdaQEQshlLslWWrsRRJDiNppEtasK/OL/DHd97j1twiJx46walTzzCzZ1Ind+HSZc6e+5hvv/1Ws5oPPvigAtbpdMnlcpx85iQP338YL4q5euUmpz/8mPPnz7G1tcXzp07xX/7lP3LsngPqjGQs62s7nD5zVgHb3t7h+VMn+af/+FsOH9zP1k6THy9e4ezHH/Pdd99quPPII49w6rmTnDh+lGqxQD8IcYMkvyXzkcqXeMvaQCVlZVw/0KShZUseO2J5bY3PvviCDz78CxcvXaRUKvP0s8+qaB+55xCVao1cNqv2S6tFgYixQdayNK8k77vdnm40sDJZbiws8v/86U+sb2zy3HPPcfLZJ5kYH6HZlmzIOp9+9jkffvghq2urDNeGmZic5MD+/Tz44AM8fOIEe8aHdSJz8yucO3uOjz76kOWlZZ5+6mn+93/5Zx46dq9OyvdDtWGnz3zM2++8w+7uLs89+yz/9E+/54Ejh3C9gPmVdb759ns+/+xz5ubnyOdzavwl9Hvgvns1LSWL7eliW7rRTI7yoAjix2IsfQLZaWY7OBY0uz2uXr/ORx+f4dz582xubbFn7yyPPfqYGtCDhw4xNjyivEVecgMBTOyVkFgBq75Tp93tkSsNMb+ywh/feotWu82rr77Ks089wWh1CC+KaHddvvrue/701lt88803eJ7H5OQk//Dyy/z85y9zYO8e3R0i525s7PDJ+U955923uXHjFo89+ij/2z//E088/CA5y0oAWVjl9OmPef+D99jdrfPUk8LDfsfD9x9RuyRNLfPzy/z1r19x/pPz3Jq7xfjYGCdPPsupk89wz75Zsvk8vhZAzCTjrC1VqZd0/YSRyxKZYrzTILrZavHT5ct8fO4cX3/zDVs7OwwP1zh+/DiPPvoo9xy6h7HhYU3FJBsDDA2R2q0225vbbG9v4wcBleFR1re3+fNHH6nqi2d64vFHGalIG7g42pjLc/O88977/PkvH2pmRNj/7377G1588RS1gnRIJ3nPbrvL+U8+57//j//OpUuXuP/Y/fzhd7/jhWefYrRSptf3uX5zidNnzvDhR39hd2dXVe6Xv/oljz18nEpZ9m1G9LouN+bm+OjMx5w9d1bP27tvH08/9SSPP/ooB/bvpTA0lEYuyYb/24D1vXTvo5lQUPEKg4czbO/u8tPFS3z59VdcuXqFbrdLtVbj4MGDHDp4iPHRUc3dS+hjW5ay4ka9roD1ez2NQ2sjo2zt1vnq2280E3Lq+VOcOHGcsWHZlmervVvbrfP5X7/mz3/+s6rtiePHee3Vn/PAsft0X5BogRRG/L7Lp19+xb/9278p5dm3dx8vvfA8zz39FDMT4yphN+cW+eLzz/nss89oNJscO3aUl156iYcfOs7IcFWNuSzUdr3BN9/9wKeffsq1a9fUtOzdu5fjDz7I0fvuZWpmmnKpTE7S15ZsnBlImBep2Mmuf8la9FxP9yLms9KpZ7LdaHDh0iV+uniBxYUFlQDxnFNTk9SqNVVFoRW5rLR1Q7NeV9AEyMmpaSq1mgJ249YtnGxWjf6R++5jYnyMUiGHbRipfVpM1H9zS9n5E48+QqVcVvsqKp/LOIS+x1ff/cBbb73FzRs3GK7WOHr0KI89/Ah79+zR1Pjy8go//vgjP/30ky7wgYP7ePzxxzl67Bhjo6Oah8vYFn4Ysrq2oYlEOX9+fp4gDJiZ2cN9R+7lnsP3MDk5Qa1aUdNz57kVKUkTWyQXETWScMByxONZBIGvoEkgK55pcWGReqNORuyX7Ft0XVXlcrGkn7ndHv1+j/LQEHv2zJIvFhWw7Z0dLMdhZs+MHiMjI1p8EMCl7tfqdHXwjVaTw/ccZlby9aaJL1tppPc54xAFAdfn5vjxbz+yvbWl2ZFyucz05CTjo2Oas2o0GiwtLrG8sqxEfGJijIMHDzA9Pa3URDyvSJkh/Wt9V+3cyuoKS4uL7OzuagFHONv09Axj42MKWD6b0TxZul8y2aWm4VHaoy72TJi/TEbE148jvCDQFVtfX1fvE/gBrtvH7cm2ZYtioUg2k9GCru/7lEolxsfHsaWFXJrh+n3teSiVi9r/JROVcEQ3helO6oj1zU08z9XflXI53DRTIBKcLF7Atqr8pk5WJEoO0YahoTJZJ6NOQ1Sx1Up6K8vp/UrlUgpWRu8rmRVZcQG1026zs7tDfVd29QbkczmGKkMUiyWKRSkTyh7MNKcvhUg5SXRYJEXqihLTKDcLfK1lWrath3rEMNR+BhmY2+8TBoGudDab1d+Kl5TP5FrymdQ8BYxQW6KS7KWsooCcbPqSvJMUjwM9VL1zOf1MFkkkwUlKXCptMk45RxbT83y6sqFLVDab1QUTBxREkpJJwjblUbIoei/Z8icMfrCXarDTPanDyoIIlxvsPxIV1UqSZVDKl9Ino/hSoA0UoMGzFwR1fR8L1UjAkEsLSINnVSRPF0hiriRATW4koOkENVQS75sEsLookpmVVG/K3yRol9SM73s0Gk3lgSIpMinXcxUgaWqRcEykQd7LJASIjLQzGYZKs0i7fGbL5tQ0JSPX1gUUKfJ9BcK2LS0uS2JQ0unyXiRNGnFkbklNVQrQdiIYnqd2XOxxPldIK9+ed5t8SrpP0hsyOQVA0jiOo6Iuk+/3XZUKmZAiL02/4h1FZT1ffyMXl9WW7+UzfSqBTCxIwNYBx8k95PNSsaRquL29q3aqNlzVjScCmIxFpVval+KQQDsMk6KEI5zRdvTevvS2ysOPNKZNXom2JGMbqK8AoWCIgAQhmWwCjtjpBDCxlZnEXoaRapLMVc7LSvOwbvmWLcnag5L0eKnkyCt9CFEiQGKYEzsnYp1IVbpHQvrB5Ldqb8TjWomEGYlaa4wqbcOhn6qXgJ9IsGyQktYmkXDhb6rGuax6RWFeMhmhInJvSYXrc3XSR0HoQ5FExSxTpUdAUGcl4YyZbk9OibRIYbJYIoGSxkoWTzRHJEqur+ootY1YSmrJNcSUJFpj4UjrgSaopVXprg3x2iMqT2RKJUBWUTsJxcb4iY2Ri8nKycWTtPSdB4LIuXKOVip1JZMu0WSXinTJJODKS5rsJH5M7J6ArXlutY2SGhbplusnAItEWrr6Kjn6NKnkOToC3sAByNicjKOSMZiL2rNU+gaPwBHbOPhs8EigwXcDoZFzxD6LqbCstMwmhl0nJBIljb1hqPmibqerdqFQLKqY9t2+Mm0BQ8VYG/BkRa1kYtIBZJn6V64lDF5sk0xeMnIiOTIzCarFpshvJPgdSKqocUba1cOQdrNJv9+/7YTE9vmBPHXFpFAqUSwUtOnXE08p49f7RXhuIjm5fE7bDeQ+4sllTGI7B6Bqo0wmo5RIpE8WShZGNcM06fV6ahdlzPlCQZ2UKX1jqpKpR9EOMSmTiT3Z2mZrc0N5lqRxhSJIqLS1samyKN5InwsWRXox6dYRgyvqIPxNgJPB9Xpd2u2WJhKlM1oGt7WxofXDQr6gDStifOV3cp9arabSJnxvZ2dHVU3sh4AgNk0kqVKpMjI6rPcRNe52OonaR7IYHbVFQiGqlareX+iFqJ44CbmvLHS5PEShkFdHI70gYlcFUEkyFApF5ZlyLaE/whcVtGx+UDVK2jXFOou0yIpIQ4cQOVGpibFxKkMVGo06a2trWn+UicqKC01wxEhKi6X2mJkpYAlnksE0mw0c22J0dATf81helM0LQmzLOkCxJyL2kxMTmqWQ/JmQXOF7MsFsToISdAIiMdXasFa+ZZGEpMqRPCssptls0ut2laCOjI4qvxLOWCwWlVt1ez29piyM8EBZFAF0QHOq1RpyyG/k89HRUSYmJpR827cr36nLl5UVVROxXlleZv7WnF5cUtQSgkiFZW19TaVrqFxOeFocKWB2JnkYkMSiprhqEX8x5J12GiY5TE1NEHg+83NzOqkBeZV7iNQKE5+antbry8TX1taVY+Xz8kQTtNFF3ldrVWZmZ8nnCzqx3d2dZIt1DLv1uoKkff5jozQbLQVfqIpoiYAu5LtWG6ZSGboNmKio2Ff5fHR0TIWj1WozMTHO2Pg4ubxsvxmU2fSxLL6qghhUSQbubO8oaGIjBKxqpaL6noREGQr5vKqc2BEnlS5N5Yph1kqbGOqYXq+jsaUYaUnZCF9YW1ml77ral1UqFjUVJG59uFZjZHRMUysidbtbEsB31YYKYLv1ZNVLQ2UFN5cv6HuZnKiTpJMb9QadbkdVTqRIgK/XGwqg5LnkXgJosVTS96LSYpvFsUkcLRX64ZFhXVAZo4xJzlWSLZ5XOxAlWSZ8KY7IZmTzuKHGXUATaSsXi7o6YiMkRhwYffVQUu3OJgRSWLlMVDmQuG8pxnou7WZDrykqKb8VNRBvWy4VNWDvdUVN+qrmQ5WKAqaxZUPaQF0FTF4iPa1WU+2JhE7ZXJ5ev6tSo5lRKdK2W+os5DflUol2u6OHqJ/MQXik2DzxoiK5Yu8kwyK2W76TDp1qVWytpwDKb0TrxKGIjU56XAMJuCXjFJF1EuMnfER6w8RTCMsWoykEUrlYICFT6iGFVIo6ahE4IX9CJ8Qgi5SJHet12vo7yTzISokHEmmWtInYDrfbTxbCtnUSYpvE64mnlt+rOpimSlO321HeJOospkAkM/Fy4pnR64idUyOfzdLv9VUYZDFyElEEoUptwui13SThlbInqttVSS6VRKKTuFpUVb2v51EopjzMFbIq5WwhdppilvbrWO1NFCTxmHwudinxRpLDl5SjPErGUpulJbowIX+aiJQJiKeU+EwYdByREzshZNAXGpOEUEITNFhPY887MaaB77qJF85kVHpE2mVRBBwBRK4lCyFHwqeExsgmiyTVLlIjbF48raicSorUIFKCq+RW+XnCGRNKAln1ygnd1ihGY0x5llBKK9xB46sE2fr8iiQ21H6JdDuqdLQMYkb9LiWt2q4uZFP7MiRKSB5ZIIPR3WTa+y/SmzxNKSmRJ5xPJyk9WJGw6+Q3t+8hT5IK0gBaJi+TSld9QJIH5FI4lAbwgzENAvrkGQrp5AfBy93zSALvJHJICijaNGQlTxDVcUqBOn3Wo9jhpAMx5fkDT6MlIZGeNDRKtqqlD+FRA5UCmj4yV1ZIckC3n4uULFuaLtKnoSpVGEQGkp1VsOSSuijyeMA0ekhDs7sDeu3YELXRuDWRBpFksY9yH5FcWQxtG0/BkmEmsbCAmUQpg7AtabFPFkCOJJORNp4kuCp4g+hAH5s1yHYkvTt3AqP0qSn6o3RPUnKFFPE7X6TLcvvEwSML0jvq10nIoptD0ngyif/uGuDgEZ/awXxnNQfPObv7Gjr5dLGUsUvDgzSNpPZrcK90BLfBULojZuQuyR4syO2nhN71YLUE7L8Hc/B18oS6//X6n0bg/wW6N9HN0J3gT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24" name="Picture 4" descr="CMR College of Pharmacy updated... - CMR College of Pharmac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575" y="152400"/>
            <a:ext cx="1292225" cy="1143000"/>
          </a:xfrm>
          <a:prstGeom prst="rect">
            <a:avLst/>
          </a:prstGeom>
          <a:noFill/>
        </p:spPr>
      </p:pic>
      <p:sp>
        <p:nvSpPr>
          <p:cNvPr id="30726" name="AutoShape 6" descr="CMRCET HYDERABAD - 2021 Admission Process, Ranking, Reviews, Affiliation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FFA99E-F018-8D26-1DF7-316E0E020E5A}"/>
              </a:ext>
            </a:extLst>
          </p:cNvPr>
          <p:cNvSpPr txBox="1"/>
          <p:nvPr/>
        </p:nvSpPr>
        <p:spPr>
          <a:xfrm>
            <a:off x="307975" y="3307944"/>
            <a:ext cx="2892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No.: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D-AIM5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997AF8-6B6E-040B-FF07-B099985FAFAE}"/>
              </a:ext>
            </a:extLst>
          </p:cNvPr>
          <p:cNvSpPr txBox="1"/>
          <p:nvPr/>
        </p:nvSpPr>
        <p:spPr>
          <a:xfrm>
            <a:off x="238539" y="6229290"/>
            <a:ext cx="875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2">
                    <a:lumMod val="75000"/>
                  </a:schemeClr>
                </a:solidFill>
              </a:rPr>
              <a:t>Batch: 2022-2026 			                     Major Project (A466803)/(A473803)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442452" y="8766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44" name="CustomShape 2"/>
          <p:cNvSpPr/>
          <p:nvPr/>
        </p:nvSpPr>
        <p:spPr>
          <a:xfrm>
            <a:off x="442452" y="336960"/>
            <a:ext cx="8381160" cy="57744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Outline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5" name="CustomShape 3"/>
          <p:cNvSpPr/>
          <p:nvPr/>
        </p:nvSpPr>
        <p:spPr>
          <a:xfrm>
            <a:off x="435078" y="936523"/>
            <a:ext cx="8458200" cy="5444218"/>
          </a:xfrm>
          <a:prstGeom prst="rect">
            <a:avLst/>
          </a:prstGeom>
        </p:spPr>
        <p:txBody>
          <a:bodyPr lIns="90000" tIns="45000" rIns="90000" bIns="45000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Literature Review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 - 01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 - 02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 - 03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Of Existing System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Of Existing System</a:t>
            </a:r>
            <a:endParaRPr lang="en-I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Proposed System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Methodology Of Proposed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References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533520" y="4267080"/>
            <a:ext cx="807660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83" name="CustomShape 2"/>
          <p:cNvSpPr/>
          <p:nvPr/>
        </p:nvSpPr>
        <p:spPr>
          <a:xfrm>
            <a:off x="457200" y="3574080"/>
            <a:ext cx="8152560" cy="76032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IN" sz="4400" b="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 Statement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685800" y="1357800"/>
            <a:ext cx="7619400" cy="77580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0041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457200" y="10668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3" name="TextBox 2"/>
          <p:cNvSpPr txBox="1"/>
          <p:nvPr/>
        </p:nvSpPr>
        <p:spPr>
          <a:xfrm>
            <a:off x="457200" y="519825"/>
            <a:ext cx="396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10D46F-7FF5-BD04-62D7-8633691ED852}"/>
              </a:ext>
            </a:extLst>
          </p:cNvPr>
          <p:cNvSpPr txBox="1"/>
          <p:nvPr/>
        </p:nvSpPr>
        <p:spPr>
          <a:xfrm>
            <a:off x="1028700" y="1720840"/>
            <a:ext cx="69723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Cervical spine fractures are serious injuries that can lead to paralysis or even death if not diagnosed early.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diagnosis from CT or X-ray scans is time-consuming and prone to human error.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lack of automated systems that can accurately and quickly identify cervical fractures.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deep-learning model can help in early detection and localization of such fractures.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problem is to design an accurate, fast, and interpretable detection system to assist doctors.</a:t>
            </a:r>
          </a:p>
        </p:txBody>
      </p:sp>
    </p:spTree>
    <p:extLst>
      <p:ext uri="{BB962C8B-B14F-4D97-AF65-F5344CB8AC3E}">
        <p14:creationId xmlns:p14="http://schemas.microsoft.com/office/powerpoint/2010/main" val="1685299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228600" y="4267200"/>
            <a:ext cx="8381520" cy="7548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47" name="CustomShape 2"/>
          <p:cNvSpPr/>
          <p:nvPr/>
        </p:nvSpPr>
        <p:spPr>
          <a:xfrm>
            <a:off x="913920" y="3429000"/>
            <a:ext cx="7696200" cy="76032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IN" sz="4800">
                <a:latin typeface="Aharoni" panose="02010803020104030203" pitchFamily="2" charset="-79"/>
                <a:cs typeface="Aharoni" panose="02010803020104030203" pitchFamily="2" charset="-79"/>
              </a:rPr>
              <a:t>Objectives of the Problem</a:t>
            </a:r>
            <a:endParaRPr lang="en-IN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/>
          <p:cNvSpPr/>
          <p:nvPr/>
        </p:nvSpPr>
        <p:spPr>
          <a:xfrm>
            <a:off x="457200" y="106668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50" name="CustomShape 2"/>
          <p:cNvSpPr/>
          <p:nvPr/>
        </p:nvSpPr>
        <p:spPr>
          <a:xfrm>
            <a:off x="457200" y="489360"/>
            <a:ext cx="8381160" cy="57744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3200" dirty="0">
                <a:latin typeface="Aharoni" panose="02010803020104030203" pitchFamily="2" charset="-79"/>
                <a:cs typeface="Aharoni" panose="02010803020104030203" pitchFamily="2" charset="-79"/>
              </a:rPr>
              <a:t>Objectives of the Problem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3CB94A4-3E9D-D588-83B8-4DF8ABCF7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19" y="1644120"/>
            <a:ext cx="45720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system capable of detecting cervical spine fractures from CT/X-ray images.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diagnostic accuracy and reduce time through automation.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image processing and deep learning techniques for effective feature extraction.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visual explanation (heatmap/localization) to support clinical decisions.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system using performance metrics like accuracy, precision, recall, and AUC.</a:t>
            </a:r>
          </a:p>
        </p:txBody>
      </p:sp>
      <p:pic>
        <p:nvPicPr>
          <p:cNvPr id="1026" name="Picture 2" descr="Cervical Vertebrae">
            <a:extLst>
              <a:ext uri="{FF2B5EF4-FFF2-40B4-BE49-F238E27FC236}">
                <a16:creationId xmlns:a16="http://schemas.microsoft.com/office/drawing/2014/main" id="{2D4AB080-19CE-8C13-855A-8D218A81FF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90" r="17179" b="13539"/>
          <a:stretch>
            <a:fillRect/>
          </a:stretch>
        </p:blipFill>
        <p:spPr bwMode="auto">
          <a:xfrm>
            <a:off x="5180760" y="1883135"/>
            <a:ext cx="3657600" cy="3615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228600" y="4267200"/>
            <a:ext cx="8381520" cy="7548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47" name="CustomShape 2"/>
          <p:cNvSpPr/>
          <p:nvPr/>
        </p:nvSpPr>
        <p:spPr>
          <a:xfrm>
            <a:off x="2952135" y="3429000"/>
            <a:ext cx="6172200" cy="76032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Literature Review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95918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687CB-A0F5-FE8C-425E-80AF439AE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>
            <a:extLst>
              <a:ext uri="{FF2B5EF4-FFF2-40B4-BE49-F238E27FC236}">
                <a16:creationId xmlns:a16="http://schemas.microsoft.com/office/drawing/2014/main" id="{D5EB61D7-0FF0-A9B6-FA77-206F0084A25C}"/>
              </a:ext>
            </a:extLst>
          </p:cNvPr>
          <p:cNvSpPr/>
          <p:nvPr/>
        </p:nvSpPr>
        <p:spPr>
          <a:xfrm>
            <a:off x="457200" y="106668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50" name="CustomShape 2">
            <a:extLst>
              <a:ext uri="{FF2B5EF4-FFF2-40B4-BE49-F238E27FC236}">
                <a16:creationId xmlns:a16="http://schemas.microsoft.com/office/drawing/2014/main" id="{2FC51EC6-5B24-96B8-CEAF-3CC85AAB9373}"/>
              </a:ext>
            </a:extLst>
          </p:cNvPr>
          <p:cNvSpPr/>
          <p:nvPr/>
        </p:nvSpPr>
        <p:spPr>
          <a:xfrm>
            <a:off x="457200" y="489360"/>
            <a:ext cx="8381160" cy="577440"/>
          </a:xfrm>
          <a:prstGeom prst="rect">
            <a:avLst/>
          </a:prstGeom>
        </p:spPr>
        <p:txBody>
          <a:bodyPr lIns="90000" tIns="45000" rIns="90000" bIns="45000"/>
          <a:lstStyle/>
          <a:p>
            <a:r>
              <a:rPr lang="en-IN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Method-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24358D-10DD-1759-C2BB-1826DB19EB51}"/>
              </a:ext>
            </a:extLst>
          </p:cNvPr>
          <p:cNvSpPr txBox="1"/>
          <p:nvPr/>
        </p:nvSpPr>
        <p:spPr>
          <a:xfrm>
            <a:off x="304800" y="1447800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8F03E2-2487-BA3F-35C9-436126F9E7B6}"/>
              </a:ext>
            </a:extLst>
          </p:cNvPr>
          <p:cNvSpPr txBox="1"/>
          <p:nvPr/>
        </p:nvSpPr>
        <p:spPr>
          <a:xfrm>
            <a:off x="457200" y="1219200"/>
            <a:ext cx="83811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Paper:</a:t>
            </a:r>
          </a:p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Deep Learning-Based Two-Stage Approach for Detecting Cervical Spine Fractures”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IEEE ICCIAS 2024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Method/Model Used: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Two-Stage Deep Learning Pipeline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(CNN + YOLOv5/YOLOv8 + Grad-CAM)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0E8FED-048A-5999-7DF0-8EFA004CAF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43" r="6267"/>
          <a:stretch>
            <a:fillRect/>
          </a:stretch>
        </p:blipFill>
        <p:spPr>
          <a:xfrm>
            <a:off x="4953000" y="3050446"/>
            <a:ext cx="4038600" cy="36177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DF6D2D-CD2A-FEAD-4BD7-24C17368F8F7}"/>
              </a:ext>
            </a:extLst>
          </p:cNvPr>
          <p:cNvSpPr txBox="1"/>
          <p:nvPr/>
        </p:nvSpPr>
        <p:spPr>
          <a:xfrm>
            <a:off x="457200" y="3050446"/>
            <a:ext cx="4724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Procedure / Highlights: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two-stage model was developed for automatic fracture detection from CT scan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 classifier predicts presence or absence of a fracture.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YOLOv5/YOLOv8 detects and localizes the exact vertebral level (C1–C7).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is applied for visual explanation and region highlighting.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ICCIAS, 2024.</a:t>
            </a:r>
          </a:p>
        </p:txBody>
      </p:sp>
    </p:spTree>
    <p:extLst>
      <p:ext uri="{BB962C8B-B14F-4D97-AF65-F5344CB8AC3E}">
        <p14:creationId xmlns:p14="http://schemas.microsoft.com/office/powerpoint/2010/main" val="3039398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687CB-A0F5-FE8C-425E-80AF439AE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>
            <a:extLst>
              <a:ext uri="{FF2B5EF4-FFF2-40B4-BE49-F238E27FC236}">
                <a16:creationId xmlns:a16="http://schemas.microsoft.com/office/drawing/2014/main" id="{D5EB61D7-0FF0-A9B6-FA77-206F0084A25C}"/>
              </a:ext>
            </a:extLst>
          </p:cNvPr>
          <p:cNvSpPr/>
          <p:nvPr/>
        </p:nvSpPr>
        <p:spPr>
          <a:xfrm>
            <a:off x="457200" y="106668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50" name="CustomShape 2">
            <a:extLst>
              <a:ext uri="{FF2B5EF4-FFF2-40B4-BE49-F238E27FC236}">
                <a16:creationId xmlns:a16="http://schemas.microsoft.com/office/drawing/2014/main" id="{2FC51EC6-5B24-96B8-CEAF-3CC85AAB9373}"/>
              </a:ext>
            </a:extLst>
          </p:cNvPr>
          <p:cNvSpPr/>
          <p:nvPr/>
        </p:nvSpPr>
        <p:spPr>
          <a:xfrm>
            <a:off x="457200" y="489360"/>
            <a:ext cx="8381160" cy="577440"/>
          </a:xfrm>
          <a:prstGeom prst="rect">
            <a:avLst/>
          </a:prstGeom>
        </p:spPr>
        <p:txBody>
          <a:bodyPr lIns="90000" tIns="45000" rIns="90000" bIns="45000"/>
          <a:lstStyle/>
          <a:p>
            <a:r>
              <a:rPr lang="en-US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Method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- 01</a:t>
            </a:r>
            <a:r>
              <a:rPr lang="en-US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4355C794-4EE4-1664-FD1B-C97D48CDD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122992"/>
            <a:ext cx="6624637" cy="4730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CC173E-333B-9F44-F7A6-AED2A96A0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806" y="301304"/>
            <a:ext cx="5949736" cy="258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233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5B71E-34ED-D7D1-AD62-AA8C238E9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>
            <a:extLst>
              <a:ext uri="{FF2B5EF4-FFF2-40B4-BE49-F238E27FC236}">
                <a16:creationId xmlns:a16="http://schemas.microsoft.com/office/drawing/2014/main" id="{7E57E1C3-E3F7-9B63-E4A7-3B2765F77005}"/>
              </a:ext>
            </a:extLst>
          </p:cNvPr>
          <p:cNvSpPr/>
          <p:nvPr/>
        </p:nvSpPr>
        <p:spPr>
          <a:xfrm>
            <a:off x="457200" y="106668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50" name="CustomShape 2">
            <a:extLst>
              <a:ext uri="{FF2B5EF4-FFF2-40B4-BE49-F238E27FC236}">
                <a16:creationId xmlns:a16="http://schemas.microsoft.com/office/drawing/2014/main" id="{88CC74FF-E2F4-DFF0-B866-4637DA127801}"/>
              </a:ext>
            </a:extLst>
          </p:cNvPr>
          <p:cNvSpPr/>
          <p:nvPr/>
        </p:nvSpPr>
        <p:spPr>
          <a:xfrm>
            <a:off x="533400" y="503698"/>
            <a:ext cx="8381160" cy="577440"/>
          </a:xfrm>
          <a:prstGeom prst="rect">
            <a:avLst/>
          </a:prstGeom>
        </p:spPr>
        <p:txBody>
          <a:bodyPr lIns="90000" tIns="45000" rIns="90000" bIns="45000"/>
          <a:lstStyle/>
          <a:p>
            <a:r>
              <a:rPr lang="en-IN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Method -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IN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AF7A06-0762-079D-BCBA-5EE737A10292}"/>
              </a:ext>
            </a:extLst>
          </p:cNvPr>
          <p:cNvSpPr txBox="1"/>
          <p:nvPr/>
        </p:nvSpPr>
        <p:spPr>
          <a:xfrm>
            <a:off x="304800" y="1447800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CEB9BF9F-AF2D-A4C2-2B7C-DEE2AC3CBCA4}"/>
              </a:ext>
            </a:extLst>
          </p:cNvPr>
          <p:cNvSpPr txBox="1"/>
          <p:nvPr/>
        </p:nvSpPr>
        <p:spPr>
          <a:xfrm>
            <a:off x="457200" y="3018156"/>
            <a:ext cx="4114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Procedure / Highlights: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deep architectures were compared for fracture detection on CT and MDCT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identification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prevent neurological complications.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superior performance in terms of accuracy and generalization.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 transfer learning and fine-tuning on medical imaging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ICCMC, 2024.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C85EEE-DAA9-82C1-E5D7-F6F50293B768}"/>
              </a:ext>
            </a:extLst>
          </p:cNvPr>
          <p:cNvSpPr txBox="1"/>
          <p:nvPr/>
        </p:nvSpPr>
        <p:spPr>
          <a:xfrm>
            <a:off x="544252" y="1203055"/>
            <a:ext cx="8153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Paper:</a:t>
            </a:r>
          </a:p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“Cervical Spine Fracture Detection Using Deep Neural Networks on CT and MDCT Scans”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IEEE ICCMC 2024</a:t>
            </a:r>
          </a:p>
          <a:p>
            <a:pPr algn="just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Method/Model Used: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Deep Neural Network Models: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Vision Transformer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VGG, Inception,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C711E0-AB3E-9599-7CAF-25CFC89B7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614" y="3352800"/>
            <a:ext cx="4573186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291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DBBF8-0ECE-B986-CDD3-0C1423F55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>
            <a:extLst>
              <a:ext uri="{FF2B5EF4-FFF2-40B4-BE49-F238E27FC236}">
                <a16:creationId xmlns:a16="http://schemas.microsoft.com/office/drawing/2014/main" id="{8D7E75FE-6C44-D58E-7B60-2E11F3F2FC4A}"/>
              </a:ext>
            </a:extLst>
          </p:cNvPr>
          <p:cNvSpPr/>
          <p:nvPr/>
        </p:nvSpPr>
        <p:spPr>
          <a:xfrm>
            <a:off x="457200" y="106668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785D0D37-95D9-D5C1-2469-1240BCA34278}"/>
              </a:ext>
            </a:extLst>
          </p:cNvPr>
          <p:cNvSpPr/>
          <p:nvPr/>
        </p:nvSpPr>
        <p:spPr>
          <a:xfrm>
            <a:off x="533400" y="458017"/>
            <a:ext cx="8381160" cy="577440"/>
          </a:xfrm>
          <a:prstGeom prst="rect">
            <a:avLst/>
          </a:prstGeom>
        </p:spPr>
        <p:txBody>
          <a:bodyPr lIns="90000" tIns="45000" rIns="90000" bIns="45000"/>
          <a:lstStyle/>
          <a:p>
            <a:r>
              <a:rPr lang="en-IN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Method -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IN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97FF53-25D6-12E0-62B7-2E221D355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5793"/>
            <a:ext cx="5334000" cy="34729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73BEF9-B23C-DF89-E088-26A889D2E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954929" y="2755588"/>
            <a:ext cx="5454232" cy="25338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0AAE3B-1197-4D7C-9DCF-5D42F89975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4692472"/>
            <a:ext cx="3429000" cy="215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43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/>
          <p:cNvSpPr/>
          <p:nvPr/>
        </p:nvSpPr>
        <p:spPr>
          <a:xfrm>
            <a:off x="457200" y="106668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50" name="CustomShape 2"/>
          <p:cNvSpPr/>
          <p:nvPr/>
        </p:nvSpPr>
        <p:spPr>
          <a:xfrm>
            <a:off x="457200" y="489360"/>
            <a:ext cx="8381160" cy="577440"/>
          </a:xfrm>
          <a:prstGeom prst="rect">
            <a:avLst/>
          </a:prstGeom>
        </p:spPr>
        <p:txBody>
          <a:bodyPr lIns="90000" tIns="45000" rIns="90000" bIns="45000"/>
          <a:lstStyle/>
          <a:p>
            <a:r>
              <a:rPr lang="en-IN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Method -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IN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1447800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8EEA74-28A1-AB14-AB8E-DD02ED139D4D}"/>
              </a:ext>
            </a:extLst>
          </p:cNvPr>
          <p:cNvSpPr txBox="1"/>
          <p:nvPr/>
        </p:nvSpPr>
        <p:spPr>
          <a:xfrm>
            <a:off x="457200" y="1219200"/>
            <a:ext cx="83058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Paper:</a:t>
            </a:r>
          </a:p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“Cervical Spine Fracture Detection Through Two-Stage Approach of Mask Segmentation and Windowing Based on Convolutional Neural Network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IEEE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PlatCon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2023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IEEE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ICoNSCi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2023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Method/Model Used: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Two-Stage Deep Learning Framework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UNet-EfficientNet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CrackNet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-LSTM)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Procedure / Highlights: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an advanced hybrid system combining segmentation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sequence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(LSTM).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UNet-EfficientNet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extracts spatial features and segment fracture-prone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CrackNet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-LSTM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temporal patterns across CT slices for consistent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Aimed at improving diagnostic speed and reducing radiologist workload.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high sensitivity for detecting fractures caused by blunt trauma.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ICoNSCi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361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7C001-6F7C-D437-0832-95E13AA4A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>
            <a:extLst>
              <a:ext uri="{FF2B5EF4-FFF2-40B4-BE49-F238E27FC236}">
                <a16:creationId xmlns:a16="http://schemas.microsoft.com/office/drawing/2014/main" id="{A591847D-33D8-42D9-FFEB-7F1E2DEEA0AC}"/>
              </a:ext>
            </a:extLst>
          </p:cNvPr>
          <p:cNvSpPr/>
          <p:nvPr/>
        </p:nvSpPr>
        <p:spPr>
          <a:xfrm>
            <a:off x="457200" y="106668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50" name="CustomShape 2">
            <a:extLst>
              <a:ext uri="{FF2B5EF4-FFF2-40B4-BE49-F238E27FC236}">
                <a16:creationId xmlns:a16="http://schemas.microsoft.com/office/drawing/2014/main" id="{ADC36229-4651-1343-5B6B-F5FD9594B153}"/>
              </a:ext>
            </a:extLst>
          </p:cNvPr>
          <p:cNvSpPr/>
          <p:nvPr/>
        </p:nvSpPr>
        <p:spPr>
          <a:xfrm>
            <a:off x="457200" y="489360"/>
            <a:ext cx="8381160" cy="577440"/>
          </a:xfrm>
          <a:prstGeom prst="rect">
            <a:avLst/>
          </a:prstGeom>
        </p:spPr>
        <p:txBody>
          <a:bodyPr lIns="90000" tIns="45000" rIns="90000" bIns="45000"/>
          <a:lstStyle/>
          <a:p>
            <a:r>
              <a:rPr lang="en-IN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Method -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IN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6F1BA-67F8-60AB-FE91-21B7EC1989F3}"/>
              </a:ext>
            </a:extLst>
          </p:cNvPr>
          <p:cNvSpPr txBox="1"/>
          <p:nvPr/>
        </p:nvSpPr>
        <p:spPr>
          <a:xfrm>
            <a:off x="304800" y="1447800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07743D4F-C9E8-3339-90FD-74030BBF8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86" y="1371600"/>
            <a:ext cx="5105400" cy="26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36AEB11C-B5C1-110E-9262-97256BA9C6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67"/>
          <a:stretch>
            <a:fillRect/>
          </a:stretch>
        </p:blipFill>
        <p:spPr bwMode="auto">
          <a:xfrm>
            <a:off x="447368" y="4222112"/>
            <a:ext cx="6915150" cy="2456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007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533520" y="4267080"/>
            <a:ext cx="807660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83" name="CustomShape 2"/>
          <p:cNvSpPr/>
          <p:nvPr/>
        </p:nvSpPr>
        <p:spPr>
          <a:xfrm>
            <a:off x="457440" y="3449681"/>
            <a:ext cx="8228760" cy="829799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IN" sz="4400" b="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Existing System</a:t>
            </a:r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685800" y="1357800"/>
            <a:ext cx="7619400" cy="77580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137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457200" y="10668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3" name="TextBox 2"/>
          <p:cNvSpPr txBox="1"/>
          <p:nvPr/>
        </p:nvSpPr>
        <p:spPr>
          <a:xfrm>
            <a:off x="381000" y="477109"/>
            <a:ext cx="8533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3200" b="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Existing System</a:t>
            </a:r>
            <a:endParaRPr lang="en-IN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7571FA-0037-D6EB-1695-FD3AB114849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54742" y="1314386"/>
            <a:ext cx="838116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Paper: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Deep Learning-Based Two-Stage Approach for Detecting Cervical Spine Fractures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Conference: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ICCIAS 2024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Used: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Two-Stage Deep Learning Pipeline —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+ YOLOv5/YOLOv8 with Grad-CAM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/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first uses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classifier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determine whether a CT scan image indicates a cervical spine fracture.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fracture is detected,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YOLOv5/YOLOv8 detector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localizes the specific vertebra (C1–C7) affected.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visualization is applied to generate heatmaps showing the region of interest.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approach provides both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and localization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assisting radiologists with visual explanations.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automates the detection workflow to reduce manual diagnostic effort and time.</a:t>
            </a:r>
          </a:p>
        </p:txBody>
      </p:sp>
    </p:spTree>
    <p:extLst>
      <p:ext uri="{BB962C8B-B14F-4D97-AF65-F5344CB8AC3E}">
        <p14:creationId xmlns:p14="http://schemas.microsoft.com/office/powerpoint/2010/main" val="4038116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187C3-D76B-7BA3-AA1F-726C92ACA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>
            <a:extLst>
              <a:ext uri="{FF2B5EF4-FFF2-40B4-BE49-F238E27FC236}">
                <a16:creationId xmlns:a16="http://schemas.microsoft.com/office/drawing/2014/main" id="{D776F4B4-3BBD-DCB6-C90B-B380551DCAC4}"/>
              </a:ext>
            </a:extLst>
          </p:cNvPr>
          <p:cNvSpPr/>
          <p:nvPr/>
        </p:nvSpPr>
        <p:spPr>
          <a:xfrm>
            <a:off x="457200" y="10668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BB268F-03EB-AFFC-08E6-A7E3BC0DC176}"/>
              </a:ext>
            </a:extLst>
          </p:cNvPr>
          <p:cNvSpPr txBox="1"/>
          <p:nvPr/>
        </p:nvSpPr>
        <p:spPr>
          <a:xfrm>
            <a:off x="381000" y="477109"/>
            <a:ext cx="8533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3200" b="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Existing System</a:t>
            </a:r>
            <a:endParaRPr lang="en-IN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B53173-26B2-72B6-7D2B-50D45347F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693386"/>
              </p:ext>
            </p:extLst>
          </p:nvPr>
        </p:nvGraphicFramePr>
        <p:xfrm>
          <a:off x="799680" y="1447800"/>
          <a:ext cx="7696200" cy="4627600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420649031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496200583"/>
                    </a:ext>
                  </a:extLst>
                </a:gridCol>
              </a:tblGrid>
              <a:tr h="5634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766" marR="69766" marT="34883" marB="3488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 / Limitations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766" marR="69766" marT="34883" marB="34883" anchor="ctr"/>
                </a:tc>
                <a:extLst>
                  <a:ext uri="{0D108BD9-81ED-4DB2-BD59-A6C34878D82A}">
                    <a16:rowId xmlns:a16="http://schemas.microsoft.com/office/drawing/2014/main" val="2056441503"/>
                  </a:ext>
                </a:extLst>
              </a:tr>
              <a:tr h="1029213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classification and localization precision due to two-stage approach</a:t>
                      </a:r>
                    </a:p>
                  </a:txBody>
                  <a:tcPr marL="69766" marR="69766" marT="34883" marB="34883"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still miss subtle fractures in 2D slices</a:t>
                      </a:r>
                    </a:p>
                  </a:txBody>
                  <a:tcPr marL="69766" marR="69766" marT="34883" marB="34883" anchor="ctr"/>
                </a:tc>
                <a:extLst>
                  <a:ext uri="{0D108BD9-81ED-4DB2-BD59-A6C34878D82A}">
                    <a16:rowId xmlns:a16="http://schemas.microsoft.com/office/drawing/2014/main" val="1886263973"/>
                  </a:ext>
                </a:extLst>
              </a:tr>
              <a:tr h="805525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Grad-CAM highlights affected vertebrae, aiding interpretability</a:t>
                      </a:r>
                    </a:p>
                  </a:txBody>
                  <a:tcPr marL="69766" marR="69766" marT="34883" marB="34883"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Grad-CAM alone cannot confirm clinical correctness</a:t>
                      </a:r>
                    </a:p>
                  </a:txBody>
                  <a:tcPr marL="69766" marR="69766" marT="34883" marB="34883" anchor="ctr"/>
                </a:tc>
                <a:extLst>
                  <a:ext uri="{0D108BD9-81ED-4DB2-BD59-A6C34878D82A}">
                    <a16:rowId xmlns:a16="http://schemas.microsoft.com/office/drawing/2014/main" val="410532677"/>
                  </a:ext>
                </a:extLst>
              </a:tr>
              <a:tr h="805525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manual scanning workload for radiologists</a:t>
                      </a:r>
                    </a:p>
                  </a:txBody>
                  <a:tcPr marL="69766" marR="69766" marT="34883" marB="34883"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Computationally intensive; requires GPU resources</a:t>
                      </a:r>
                    </a:p>
                  </a:txBody>
                  <a:tcPr marL="69766" marR="69766" marT="34883" marB="34883" anchor="ctr"/>
                </a:tc>
                <a:extLst>
                  <a:ext uri="{0D108BD9-81ED-4DB2-BD59-A6C34878D82A}">
                    <a16:rowId xmlns:a16="http://schemas.microsoft.com/office/drawing/2014/main" val="3065425515"/>
                  </a:ext>
                </a:extLst>
              </a:tr>
              <a:tr h="805525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exact vertebral level (C1–C7)</a:t>
                      </a:r>
                    </a:p>
                  </a:txBody>
                  <a:tcPr marL="69766" marR="69766" marT="34883" marB="34883"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CT scans; not validated on other modalities (MRI/X-ray)</a:t>
                      </a:r>
                    </a:p>
                  </a:txBody>
                  <a:tcPr marL="69766" marR="69766" marT="34883" marB="34883" anchor="ctr"/>
                </a:tc>
                <a:extLst>
                  <a:ext uri="{0D108BD9-81ED-4DB2-BD59-A6C34878D82A}">
                    <a16:rowId xmlns:a16="http://schemas.microsoft.com/office/drawing/2014/main" val="2584936156"/>
                  </a:ext>
                </a:extLst>
              </a:tr>
              <a:tr h="563406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Compatible with modern CNN &amp; YOLO models</a:t>
                      </a:r>
                    </a:p>
                  </a:txBody>
                  <a:tcPr marL="69766" marR="69766" marT="34883" marB="34883"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optimized for real-time clinical deployment</a:t>
                      </a:r>
                    </a:p>
                  </a:txBody>
                  <a:tcPr marL="69766" marR="69766" marT="34883" marB="34883" anchor="ctr"/>
                </a:tc>
                <a:extLst>
                  <a:ext uri="{0D108BD9-81ED-4DB2-BD59-A6C34878D82A}">
                    <a16:rowId xmlns:a16="http://schemas.microsoft.com/office/drawing/2014/main" val="1305223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6446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E7E65-D027-E618-F79A-D640702F8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>
            <a:extLst>
              <a:ext uri="{FF2B5EF4-FFF2-40B4-BE49-F238E27FC236}">
                <a16:creationId xmlns:a16="http://schemas.microsoft.com/office/drawing/2014/main" id="{5F2CE9F6-B79D-BBED-A107-5DFB877B5B1C}"/>
              </a:ext>
            </a:extLst>
          </p:cNvPr>
          <p:cNvSpPr/>
          <p:nvPr/>
        </p:nvSpPr>
        <p:spPr>
          <a:xfrm>
            <a:off x="457200" y="10668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8588B9-7C42-51E2-7D48-55B232897DE5}"/>
              </a:ext>
            </a:extLst>
          </p:cNvPr>
          <p:cNvSpPr txBox="1"/>
          <p:nvPr/>
        </p:nvSpPr>
        <p:spPr>
          <a:xfrm>
            <a:off x="381000" y="477109"/>
            <a:ext cx="8533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3200" b="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Existing System</a:t>
            </a:r>
            <a:endParaRPr lang="en-IN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DF911E-7D02-7166-2103-041B15281079}"/>
              </a:ext>
            </a:extLst>
          </p:cNvPr>
          <p:cNvSpPr txBox="1"/>
          <p:nvPr/>
        </p:nvSpPr>
        <p:spPr>
          <a:xfrm>
            <a:off x="1066800" y="1720840"/>
            <a:ext cx="648737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Is Not Fully Suitable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primarily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research-level evaluation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for real-time hospital deployment.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Fails to integrate medical reasoning or multi-modal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patient records, trauma notes).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assess fracture severity or stability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clinically critical for treatment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interpret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non-technical medical staff due to deep learning complexity.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CT scan input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lacking cross-validation with MRI or X-ray imaging.</a:t>
            </a:r>
          </a:p>
        </p:txBody>
      </p:sp>
    </p:spTree>
    <p:extLst>
      <p:ext uri="{BB962C8B-B14F-4D97-AF65-F5344CB8AC3E}">
        <p14:creationId xmlns:p14="http://schemas.microsoft.com/office/powerpoint/2010/main" val="997564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49B53-A2F7-DC6C-3BD0-F5F1C9F5F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>
            <a:extLst>
              <a:ext uri="{FF2B5EF4-FFF2-40B4-BE49-F238E27FC236}">
                <a16:creationId xmlns:a16="http://schemas.microsoft.com/office/drawing/2014/main" id="{684323CF-617C-025E-DF48-7491BDBB6E98}"/>
              </a:ext>
            </a:extLst>
          </p:cNvPr>
          <p:cNvSpPr/>
          <p:nvPr/>
        </p:nvSpPr>
        <p:spPr>
          <a:xfrm>
            <a:off x="457200" y="10668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744878-E61D-D648-4FA7-4033C8B2CFCA}"/>
              </a:ext>
            </a:extLst>
          </p:cNvPr>
          <p:cNvSpPr txBox="1"/>
          <p:nvPr/>
        </p:nvSpPr>
        <p:spPr>
          <a:xfrm>
            <a:off x="381000" y="477109"/>
            <a:ext cx="8533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3200" b="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Existing System</a:t>
            </a:r>
            <a:endParaRPr lang="en-IN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956E48-7C5A-F502-5E82-8223B13711A1}"/>
              </a:ext>
            </a:extLst>
          </p:cNvPr>
          <p:cNvSpPr txBox="1"/>
          <p:nvPr/>
        </p:nvSpPr>
        <p:spPr>
          <a:xfrm>
            <a:off x="838200" y="1600200"/>
            <a:ext cx="7467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Improvements / Proposed Enhancements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Grad-CAM &amp; attention mapping: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quantitative heatmaps to estimate fracture size, region confidence, and probability.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Fracture type classification: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 the system to identify specific fracture types (compression, teardrop, burst).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Region-based analysis: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calculate fracture area and highlight multiple fractures in one scan.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database integration: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vertebral-level information, symptoms, complications, and suggested treatments along with localization.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preprocessing: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image normalization, denoising, and augmentation to improve robustness across CT modalities and slice quality.</a:t>
            </a:r>
          </a:p>
        </p:txBody>
      </p:sp>
    </p:spTree>
    <p:extLst>
      <p:ext uri="{BB962C8B-B14F-4D97-AF65-F5344CB8AC3E}">
        <p14:creationId xmlns:p14="http://schemas.microsoft.com/office/powerpoint/2010/main" val="967956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69FF5-2683-552F-F139-32DC96CFF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>
            <a:extLst>
              <a:ext uri="{FF2B5EF4-FFF2-40B4-BE49-F238E27FC236}">
                <a16:creationId xmlns:a16="http://schemas.microsoft.com/office/drawing/2014/main" id="{FFC9392D-635E-2AEE-5B79-507E2AFB7272}"/>
              </a:ext>
            </a:extLst>
          </p:cNvPr>
          <p:cNvSpPr/>
          <p:nvPr/>
        </p:nvSpPr>
        <p:spPr>
          <a:xfrm>
            <a:off x="533520" y="4267080"/>
            <a:ext cx="807660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83" name="CustomShape 2">
            <a:extLst>
              <a:ext uri="{FF2B5EF4-FFF2-40B4-BE49-F238E27FC236}">
                <a16:creationId xmlns:a16="http://schemas.microsoft.com/office/drawing/2014/main" id="{1F457569-A48D-FE6E-EFAD-CD673D999483}"/>
              </a:ext>
            </a:extLst>
          </p:cNvPr>
          <p:cNvSpPr/>
          <p:nvPr/>
        </p:nvSpPr>
        <p:spPr>
          <a:xfrm>
            <a:off x="1874040" y="2819400"/>
            <a:ext cx="6705600" cy="77580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IN" sz="4400" b="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Implementation of Existing System</a:t>
            </a:r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4" name="CustomShape 3">
            <a:extLst>
              <a:ext uri="{FF2B5EF4-FFF2-40B4-BE49-F238E27FC236}">
                <a16:creationId xmlns:a16="http://schemas.microsoft.com/office/drawing/2014/main" id="{858D584E-F00C-02EA-A40D-27D1ABF4FC3E}"/>
              </a:ext>
            </a:extLst>
          </p:cNvPr>
          <p:cNvSpPr/>
          <p:nvPr/>
        </p:nvSpPr>
        <p:spPr>
          <a:xfrm>
            <a:off x="685800" y="1357800"/>
            <a:ext cx="7619400" cy="77580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3962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9EC49-5BF1-E3D0-8B5E-AEE8BE6D3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>
            <a:extLst>
              <a:ext uri="{FF2B5EF4-FFF2-40B4-BE49-F238E27FC236}">
                <a16:creationId xmlns:a16="http://schemas.microsoft.com/office/drawing/2014/main" id="{BE878D22-C1FA-3C57-CD26-2D81F04A2C29}"/>
              </a:ext>
            </a:extLst>
          </p:cNvPr>
          <p:cNvSpPr/>
          <p:nvPr/>
        </p:nvSpPr>
        <p:spPr>
          <a:xfrm>
            <a:off x="457200" y="10668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0017B2-4B58-5BE9-E727-DD88A53B0668}"/>
              </a:ext>
            </a:extLst>
          </p:cNvPr>
          <p:cNvSpPr txBox="1"/>
          <p:nvPr/>
        </p:nvSpPr>
        <p:spPr>
          <a:xfrm>
            <a:off x="381000" y="477109"/>
            <a:ext cx="8533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3200" b="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Implementation of Existing System</a:t>
            </a:r>
            <a:endParaRPr lang="en-IN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147045-6236-116A-E1A6-1F389A5A42C7}"/>
              </a:ext>
            </a:extLst>
          </p:cNvPr>
          <p:cNvSpPr txBox="1"/>
          <p:nvPr/>
        </p:nvSpPr>
        <p:spPr>
          <a:xfrm>
            <a:off x="609180" y="1295400"/>
            <a:ext cx="80772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RSNA 2022 Cervical Spine Fracture Detection Challenge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2019 CT scans of cervical spine (C1–C7), each scan contains 100–800 slices.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Bounding boxes available for a subset of slices; segmentation labels for vertebrae (1–7), background =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3D U-Net generated, reviewed and corrected by radiologists for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DICOM → PNG format for compatibility with deep learning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500, width = 2000 to enhance vertebral structures.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Labelling: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Slices with bounding boxes = positive fracture cases; slices without = negative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Balancing: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Under-sampling applied to negative class to mitigate dataset imbalance (~7217 positive images).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Bounding Boxes: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Generated from segmentations to localize vertebrae accurately for detection models.</a:t>
            </a:r>
          </a:p>
        </p:txBody>
      </p:sp>
    </p:spTree>
    <p:extLst>
      <p:ext uri="{BB962C8B-B14F-4D97-AF65-F5344CB8AC3E}">
        <p14:creationId xmlns:p14="http://schemas.microsoft.com/office/powerpoint/2010/main" val="1563758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215F0-9F5F-F0B6-2D4D-53C19735E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>
            <a:extLst>
              <a:ext uri="{FF2B5EF4-FFF2-40B4-BE49-F238E27FC236}">
                <a16:creationId xmlns:a16="http://schemas.microsoft.com/office/drawing/2014/main" id="{AE7FC35A-1B13-10CA-697D-A4D6A8E42FF8}"/>
              </a:ext>
            </a:extLst>
          </p:cNvPr>
          <p:cNvSpPr/>
          <p:nvPr/>
        </p:nvSpPr>
        <p:spPr>
          <a:xfrm>
            <a:off x="457200" y="10668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5BFC6F-25B9-D6E2-DA6C-FA30A97A2BBC}"/>
              </a:ext>
            </a:extLst>
          </p:cNvPr>
          <p:cNvSpPr txBox="1"/>
          <p:nvPr/>
        </p:nvSpPr>
        <p:spPr>
          <a:xfrm>
            <a:off x="381000" y="477109"/>
            <a:ext cx="8533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3200" b="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Implementation of Existing System</a:t>
            </a:r>
            <a:endParaRPr lang="en-IN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E6E61-E285-18F9-E743-9B3E83490494}"/>
              </a:ext>
            </a:extLst>
          </p:cNvPr>
          <p:cNvSpPr txBox="1"/>
          <p:nvPr/>
        </p:nvSpPr>
        <p:spPr>
          <a:xfrm>
            <a:off x="457200" y="1295400"/>
            <a:ext cx="73914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/ Procedures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Stage: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images to 224×224 pixels.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split: 80% training, 20% validation.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augmentation: random flips, rotations, Gaussian blur to improve generalization.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layers (Conv2D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MaxPooling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Flatten → Fully connected layers.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layer: 2 classes (fracture vs. non-fracture).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custom deep learning model.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/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size: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224×224 pixels.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16–32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0.001 (initial), adaptive for fine-tuning.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~15–30 with early stopping.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binary classification and fracture region detection.</a:t>
            </a:r>
          </a:p>
        </p:txBody>
      </p:sp>
    </p:spTree>
    <p:extLst>
      <p:ext uri="{BB962C8B-B14F-4D97-AF65-F5344CB8AC3E}">
        <p14:creationId xmlns:p14="http://schemas.microsoft.com/office/powerpoint/2010/main" val="25398367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8D841-5421-43A1-B8B0-1A9B97334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>
            <a:extLst>
              <a:ext uri="{FF2B5EF4-FFF2-40B4-BE49-F238E27FC236}">
                <a16:creationId xmlns:a16="http://schemas.microsoft.com/office/drawing/2014/main" id="{8918823F-75E6-1DA1-F96C-493FF3F1559B}"/>
              </a:ext>
            </a:extLst>
          </p:cNvPr>
          <p:cNvSpPr/>
          <p:nvPr/>
        </p:nvSpPr>
        <p:spPr>
          <a:xfrm>
            <a:off x="533520" y="4267080"/>
            <a:ext cx="807660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83" name="CustomShape 2">
            <a:extLst>
              <a:ext uri="{FF2B5EF4-FFF2-40B4-BE49-F238E27FC236}">
                <a16:creationId xmlns:a16="http://schemas.microsoft.com/office/drawing/2014/main" id="{72A08E80-9E40-7FAB-49F0-F3D86E0ED2A4}"/>
              </a:ext>
            </a:extLst>
          </p:cNvPr>
          <p:cNvSpPr/>
          <p:nvPr/>
        </p:nvSpPr>
        <p:spPr>
          <a:xfrm>
            <a:off x="1874040" y="2819400"/>
            <a:ext cx="6705600" cy="77580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4400" dirty="0">
                <a:latin typeface="Aharoni" panose="02010803020104030203" pitchFamily="2" charset="-79"/>
                <a:ea typeface="Tahoma" panose="020B0604030504040204" pitchFamily="34" charset="0"/>
                <a:cs typeface="Aharoni" panose="02010803020104030203" pitchFamily="2" charset="-79"/>
              </a:rPr>
              <a:t>Performance Evaluation Of Existing System</a:t>
            </a:r>
            <a:endParaRPr lang="en-IN" dirty="0">
              <a:latin typeface="Aharoni" panose="02010803020104030203" pitchFamily="2" charset="-79"/>
              <a:ea typeface="Tahoma" panose="020B0604030504040204" pitchFamily="34" charset="0"/>
              <a:cs typeface="Aharoni" panose="02010803020104030203" pitchFamily="2" charset="-79"/>
            </a:endParaRPr>
          </a:p>
        </p:txBody>
      </p:sp>
      <p:sp>
        <p:nvSpPr>
          <p:cNvPr id="84" name="CustomShape 3">
            <a:extLst>
              <a:ext uri="{FF2B5EF4-FFF2-40B4-BE49-F238E27FC236}">
                <a16:creationId xmlns:a16="http://schemas.microsoft.com/office/drawing/2014/main" id="{EB638175-2524-59C0-7130-DC2884434180}"/>
              </a:ext>
            </a:extLst>
          </p:cNvPr>
          <p:cNvSpPr/>
          <p:nvPr/>
        </p:nvSpPr>
        <p:spPr>
          <a:xfrm>
            <a:off x="685800" y="1357800"/>
            <a:ext cx="7619400" cy="77580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68288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65CE-4F95-CDA1-9172-9736B4CB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>
            <a:extLst>
              <a:ext uri="{FF2B5EF4-FFF2-40B4-BE49-F238E27FC236}">
                <a16:creationId xmlns:a16="http://schemas.microsoft.com/office/drawing/2014/main" id="{ECD152F1-05C9-7553-14B8-5485B9423427}"/>
              </a:ext>
            </a:extLst>
          </p:cNvPr>
          <p:cNvSpPr/>
          <p:nvPr/>
        </p:nvSpPr>
        <p:spPr>
          <a:xfrm>
            <a:off x="457200" y="10668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D70C6-893A-4E84-0231-81A93AB5E317}"/>
              </a:ext>
            </a:extLst>
          </p:cNvPr>
          <p:cNvSpPr txBox="1"/>
          <p:nvPr/>
        </p:nvSpPr>
        <p:spPr>
          <a:xfrm>
            <a:off x="381000" y="477109"/>
            <a:ext cx="8533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3200" dirty="0">
                <a:latin typeface="Aharoni" panose="02010803020104030203" pitchFamily="2" charset="-79"/>
                <a:ea typeface="Tahoma" panose="020B0604030504040204" pitchFamily="34" charset="0"/>
                <a:cs typeface="Aharoni" panose="02010803020104030203" pitchFamily="2" charset="-79"/>
              </a:rPr>
              <a:t>Performance Evaluation Of Existing System</a:t>
            </a:r>
            <a:endParaRPr lang="en-IN" sz="3200" dirty="0">
              <a:latin typeface="Aharoni" panose="02010803020104030203" pitchFamily="2" charset="-79"/>
              <a:ea typeface="Tahoma" panose="020B0604030504040204" pitchFamily="34" charset="0"/>
              <a:cs typeface="Aharoni" panose="02010803020104030203" pitchFamily="2" charset="-79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0ADB4A-1A46-8B74-7086-3A96FD8A1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593435"/>
              </p:ext>
            </p:extLst>
          </p:nvPr>
        </p:nvGraphicFramePr>
        <p:xfrm>
          <a:off x="533400" y="1200034"/>
          <a:ext cx="8304959" cy="5499992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1510144">
                  <a:extLst>
                    <a:ext uri="{9D8B030D-6E8A-4147-A177-3AD203B41FA5}">
                      <a16:colId xmlns:a16="http://schemas.microsoft.com/office/drawing/2014/main" val="2532944027"/>
                    </a:ext>
                  </a:extLst>
                </a:gridCol>
                <a:gridCol w="1359131">
                  <a:extLst>
                    <a:ext uri="{9D8B030D-6E8A-4147-A177-3AD203B41FA5}">
                      <a16:colId xmlns:a16="http://schemas.microsoft.com/office/drawing/2014/main" val="685246637"/>
                    </a:ext>
                  </a:extLst>
                </a:gridCol>
                <a:gridCol w="2491736">
                  <a:extLst>
                    <a:ext uri="{9D8B030D-6E8A-4147-A177-3AD203B41FA5}">
                      <a16:colId xmlns:a16="http://schemas.microsoft.com/office/drawing/2014/main" val="1905445700"/>
                    </a:ext>
                  </a:extLst>
                </a:gridCol>
                <a:gridCol w="2943948">
                  <a:extLst>
                    <a:ext uri="{9D8B030D-6E8A-4147-A177-3AD203B41FA5}">
                      <a16:colId xmlns:a16="http://schemas.microsoft.com/office/drawing/2014/main" val="1702806528"/>
                    </a:ext>
                  </a:extLst>
                </a:gridCol>
              </a:tblGrid>
              <a:tr h="576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  <a:endParaRPr lang="en-IN" sz="18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 / Values</a:t>
                      </a:r>
                      <a:endParaRPr lang="en-IN" sz="18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Reasons / Observations</a:t>
                      </a:r>
                      <a:endParaRPr lang="en-IN" sz="18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Improvement / Extension</a:t>
                      </a:r>
                      <a:endParaRPr lang="en-IN" sz="18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extLst>
                  <a:ext uri="{0D108BD9-81ED-4DB2-BD59-A6C34878D82A}">
                    <a16:rowId xmlns:a16="http://schemas.microsoft.com/office/drawing/2014/main" val="891118534"/>
                  </a:ext>
                </a:extLst>
              </a:tr>
              <a:tr h="1110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8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85–92%</a:t>
                      </a:r>
                      <a:endParaRPr lang="en-IN" sz="18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CNNs capture features; data augmentation improves generalization</a:t>
                      </a:r>
                      <a:endParaRPr lang="en-IN" sz="18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multi-stage pipelines, fine-tuning, and attention mechanisms</a:t>
                      </a:r>
                      <a:endParaRPr lang="en-US" sz="18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extLst>
                  <a:ext uri="{0D108BD9-81ED-4DB2-BD59-A6C34878D82A}">
                    <a16:rowId xmlns:a16="http://schemas.microsoft.com/office/drawing/2014/main" val="3671384893"/>
                  </a:ext>
                </a:extLst>
              </a:tr>
              <a:tr h="1083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18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82–90%</a:t>
                      </a:r>
                      <a:endParaRPr lang="en-IN" sz="18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Correctly predicts fractures among positive cases</a:t>
                      </a:r>
                      <a:endParaRPr lang="en-US" sz="18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 class imbalance; combine with localization models (e.g., YOLOv8)</a:t>
                      </a:r>
                      <a:endParaRPr lang="en-US" sz="18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extLst>
                  <a:ext uri="{0D108BD9-81ED-4DB2-BD59-A6C34878D82A}">
                    <a16:rowId xmlns:a16="http://schemas.microsoft.com/office/drawing/2014/main" val="3326675847"/>
                  </a:ext>
                </a:extLst>
              </a:tr>
              <a:tr h="907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/ Sensitivity</a:t>
                      </a:r>
                      <a:endParaRPr lang="en-IN" sz="18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80–88%</a:t>
                      </a:r>
                      <a:endParaRPr lang="en-IN" sz="18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Some subtle fractures missed; slices lack annotations</a:t>
                      </a:r>
                      <a:endParaRPr lang="en-US" sz="18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cross-validation, multi-view CT analysis, better data labeling</a:t>
                      </a:r>
                      <a:endParaRPr lang="en-US" sz="18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extLst>
                  <a:ext uri="{0D108BD9-81ED-4DB2-BD59-A6C34878D82A}">
                    <a16:rowId xmlns:a16="http://schemas.microsoft.com/office/drawing/2014/main" val="3081200110"/>
                  </a:ext>
                </a:extLst>
              </a:tr>
              <a:tr h="843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N" sz="18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81–89%</a:t>
                      </a:r>
                      <a:endParaRPr lang="en-IN" sz="18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Balances precision &amp; recall; affected by false negatives</a:t>
                      </a:r>
                      <a:endParaRPr lang="en-US" sz="18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 Grad-CAM/attention maps for better fracture detection</a:t>
                      </a:r>
                      <a:endParaRPr lang="en-US" sz="18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extLst>
                  <a:ext uri="{0D108BD9-81ED-4DB2-BD59-A6C34878D82A}">
                    <a16:rowId xmlns:a16="http://schemas.microsoft.com/office/drawing/2014/main" val="4226854999"/>
                  </a:ext>
                </a:extLst>
              </a:tr>
              <a:tr h="907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</a:t>
                      </a:r>
                      <a:endParaRPr lang="en-IN" sz="18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0.88–0.94</a:t>
                      </a:r>
                      <a:endParaRPr lang="en-IN" sz="18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distinguishes fracture vs. non-fracture well</a:t>
                      </a:r>
                      <a:endParaRPr lang="en-IN" sz="18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interpretability, segmentation-assisted bounding boxes</a:t>
                      </a:r>
                      <a:endParaRPr lang="en-US" sz="18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185" marR="44185" marT="22093" marB="22093" anchor="ctr"/>
                </a:tc>
                <a:extLst>
                  <a:ext uri="{0D108BD9-81ED-4DB2-BD59-A6C34878D82A}">
                    <a16:rowId xmlns:a16="http://schemas.microsoft.com/office/drawing/2014/main" val="957349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0824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533520" y="4267080"/>
            <a:ext cx="807660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83" name="CustomShape 2"/>
          <p:cNvSpPr/>
          <p:nvPr/>
        </p:nvSpPr>
        <p:spPr>
          <a:xfrm>
            <a:off x="457200" y="3429000"/>
            <a:ext cx="8152560" cy="90540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r"/>
            <a:r>
              <a:rPr lang="en-IN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Proposed System</a:t>
            </a:r>
          </a:p>
        </p:txBody>
      </p:sp>
      <p:sp>
        <p:nvSpPr>
          <p:cNvPr id="84" name="CustomShape 3"/>
          <p:cNvSpPr/>
          <p:nvPr/>
        </p:nvSpPr>
        <p:spPr>
          <a:xfrm>
            <a:off x="685800" y="1357800"/>
            <a:ext cx="7619400" cy="77580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858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457200" y="10668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3" name="TextBox 2"/>
          <p:cNvSpPr txBox="1"/>
          <p:nvPr/>
        </p:nvSpPr>
        <p:spPr>
          <a:xfrm>
            <a:off x="381000" y="477109"/>
            <a:ext cx="8533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Our Proposed System: </a:t>
            </a:r>
            <a:r>
              <a:rPr lang="en-IN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Core Objective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354F68-599C-F2FB-907B-19FFAB6172AB}"/>
              </a:ext>
            </a:extLst>
          </p:cNvPr>
          <p:cNvSpPr txBox="1"/>
          <p:nvPr/>
        </p:nvSpPr>
        <p:spPr>
          <a:xfrm>
            <a:off x="800100" y="1208871"/>
            <a:ext cx="75438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Times New Roman" panose="02020603050405020304" pitchFamily="18" charset="0"/>
              <a:ea typeface="STZhongsong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Goal:</a:t>
            </a:r>
            <a:r>
              <a:rPr lang="en-US" sz="2000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 To develop a single, end-to-end AI system that provides a complete diagnostic picture for cervical spine fractures.</a:t>
            </a:r>
          </a:p>
          <a:p>
            <a:endParaRPr lang="en-US" sz="2000" dirty="0">
              <a:latin typeface="Times New Roman" panose="02020603050405020304" pitchFamily="18" charset="0"/>
              <a:ea typeface="STZhongsong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Key Objectives:</a:t>
            </a:r>
            <a:endParaRPr lang="en-US" sz="2000" dirty="0">
              <a:latin typeface="Times New Roman" panose="02020603050405020304" pitchFamily="18" charset="0"/>
              <a:ea typeface="STZhongsong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High Accuracy:</a:t>
            </a:r>
            <a:r>
              <a:rPr lang="en-US" sz="2000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 Target &gt;95% detection rate, surpassing existing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Precise Localization:</a:t>
            </a:r>
            <a:r>
              <a:rPr lang="en-US" sz="2000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 Show exactly </a:t>
            </a:r>
            <a:r>
              <a:rPr lang="en-US" sz="2000" i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where</a:t>
            </a:r>
            <a:r>
              <a:rPr lang="en-US" sz="2000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 the fracture is using Grad-CAM.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Vertebra Identification:</a:t>
            </a:r>
            <a:r>
              <a:rPr lang="en-US" sz="2000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 Automatically identify the affected level (C1-C7).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Instant Context:</a:t>
            </a:r>
            <a:r>
              <a:rPr lang="en-US" sz="2000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 Deliver immediate medical info on risks and treatments for the identified vertebra.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Value:</a:t>
            </a:r>
            <a:r>
              <a:rPr lang="en-US" sz="2000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 We close the gap between an AI's "yes/no" output and the radiologist's need for a "where, what, and why."</a:t>
            </a:r>
          </a:p>
          <a:p>
            <a:br>
              <a:rPr lang="en-US" sz="2000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ea typeface="STZhongsong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9900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02BD3-E5AD-C33D-A999-A07D567EA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>
            <a:extLst>
              <a:ext uri="{FF2B5EF4-FFF2-40B4-BE49-F238E27FC236}">
                <a16:creationId xmlns:a16="http://schemas.microsoft.com/office/drawing/2014/main" id="{5768F86F-F361-FD9F-7BC6-0349BCE3AC0E}"/>
              </a:ext>
            </a:extLst>
          </p:cNvPr>
          <p:cNvSpPr/>
          <p:nvPr/>
        </p:nvSpPr>
        <p:spPr>
          <a:xfrm>
            <a:off x="533520" y="4267080"/>
            <a:ext cx="807660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83" name="CustomShape 2">
            <a:extLst>
              <a:ext uri="{FF2B5EF4-FFF2-40B4-BE49-F238E27FC236}">
                <a16:creationId xmlns:a16="http://schemas.microsoft.com/office/drawing/2014/main" id="{5144B781-78B1-879C-191B-25B7E9096B90}"/>
              </a:ext>
            </a:extLst>
          </p:cNvPr>
          <p:cNvSpPr/>
          <p:nvPr/>
        </p:nvSpPr>
        <p:spPr>
          <a:xfrm>
            <a:off x="457200" y="3429000"/>
            <a:ext cx="8152560" cy="90540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r"/>
            <a:r>
              <a:rPr lang="en-IN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Methodology Of Proposed</a:t>
            </a:r>
          </a:p>
        </p:txBody>
      </p:sp>
    </p:spTree>
    <p:extLst>
      <p:ext uri="{BB962C8B-B14F-4D97-AF65-F5344CB8AC3E}">
        <p14:creationId xmlns:p14="http://schemas.microsoft.com/office/powerpoint/2010/main" val="615994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8C74C-57E0-C1D3-E1F5-575E02119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>
            <a:extLst>
              <a:ext uri="{FF2B5EF4-FFF2-40B4-BE49-F238E27FC236}">
                <a16:creationId xmlns:a16="http://schemas.microsoft.com/office/drawing/2014/main" id="{B4F7879C-4354-9B0D-3611-2E1F1EF97DA4}"/>
              </a:ext>
            </a:extLst>
          </p:cNvPr>
          <p:cNvSpPr/>
          <p:nvPr/>
        </p:nvSpPr>
        <p:spPr>
          <a:xfrm>
            <a:off x="457200" y="10668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02D52B-B631-2E6A-27F1-83E7CAF2F0E5}"/>
              </a:ext>
            </a:extLst>
          </p:cNvPr>
          <p:cNvSpPr txBox="1"/>
          <p:nvPr/>
        </p:nvSpPr>
        <p:spPr>
          <a:xfrm>
            <a:off x="381000" y="477109"/>
            <a:ext cx="8533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Our Superior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4CF8E7-0CBA-4478-93BA-C39BC72D61CE}"/>
              </a:ext>
            </a:extLst>
          </p:cNvPr>
          <p:cNvSpPr txBox="1"/>
          <p:nvPr/>
        </p:nvSpPr>
        <p:spPr>
          <a:xfrm>
            <a:off x="548148" y="1270426"/>
            <a:ext cx="83811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Architecture &amp; Workflow:</a:t>
            </a:r>
            <a:endParaRPr lang="en-US" dirty="0">
              <a:latin typeface="Times New Roman" panose="02020603050405020304" pitchFamily="18" charset="0"/>
              <a:ea typeface="STZhongsong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Input:</a:t>
            </a:r>
            <a:r>
              <a:rPr lang="en-US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 CT Scan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Unified AI Model (MobileNetV2):</a:t>
            </a:r>
            <a:endParaRPr lang="en-US" dirty="0">
              <a:latin typeface="Times New Roman" panose="02020603050405020304" pitchFamily="18" charset="0"/>
              <a:ea typeface="STZhongsong" panose="0201060004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Training:</a:t>
            </a:r>
            <a:r>
              <a:rPr lang="en-US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 Advanced two-phase strategy (freeze → fine-tune) for maximum accuracy.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Output:</a:t>
            </a:r>
            <a:r>
              <a:rPr lang="en-US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 Binary fracture detection.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If Fracture Detected:</a:t>
            </a:r>
            <a:endParaRPr lang="en-US" dirty="0">
              <a:latin typeface="Times New Roman" panose="02020603050405020304" pitchFamily="18" charset="0"/>
              <a:ea typeface="STZhongsong" panose="0201060004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Grad-CAM:</a:t>
            </a:r>
            <a:r>
              <a:rPr lang="en-US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 Generates a heatmap to visually pinpoint the fracture.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Vertebra Mapping:</a:t>
            </a:r>
            <a:r>
              <a:rPr lang="en-US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 Algorithm maps the heatmap location to a specific vertebra </a:t>
            </a:r>
            <a:r>
              <a:rPr lang="en-US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Knowledge Base:</a:t>
            </a:r>
            <a:r>
              <a:rPr lang="en-US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 Pulls relevant, level-specific medical data for the clinician.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Output:</a:t>
            </a:r>
            <a:r>
              <a:rPr lang="en-US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 A comprehensive diagnostic report with detection, localization, and context.</a:t>
            </a:r>
          </a:p>
          <a:p>
            <a:endParaRPr lang="en-IN" dirty="0">
              <a:latin typeface="Times New Roman" panose="02020603050405020304" pitchFamily="18" charset="0"/>
              <a:ea typeface="STZhongsong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6" descr="A diagram of a spine mapping&#10;&#10;AI-generated content may be incorrect.">
            <a:extLst>
              <a:ext uri="{FF2B5EF4-FFF2-40B4-BE49-F238E27FC236}">
                <a16:creationId xmlns:a16="http://schemas.microsoft.com/office/drawing/2014/main" id="{C792ACE7-FFD3-C346-9894-953685CAAE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221" b="30612"/>
          <a:stretch>
            <a:fillRect/>
          </a:stretch>
        </p:blipFill>
        <p:spPr>
          <a:xfrm>
            <a:off x="635126" y="4686746"/>
            <a:ext cx="8203234" cy="205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2571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80251-0309-089E-AD15-5089BB2A2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>
            <a:extLst>
              <a:ext uri="{FF2B5EF4-FFF2-40B4-BE49-F238E27FC236}">
                <a16:creationId xmlns:a16="http://schemas.microsoft.com/office/drawing/2014/main" id="{A6DB4B73-0F2C-7F80-75B4-E6FD0751303A}"/>
              </a:ext>
            </a:extLst>
          </p:cNvPr>
          <p:cNvSpPr/>
          <p:nvPr/>
        </p:nvSpPr>
        <p:spPr>
          <a:xfrm>
            <a:off x="457200" y="10668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B842D-1EFB-703D-96AE-78B752B5690A}"/>
              </a:ext>
            </a:extLst>
          </p:cNvPr>
          <p:cNvSpPr txBox="1"/>
          <p:nvPr/>
        </p:nvSpPr>
        <p:spPr>
          <a:xfrm>
            <a:off x="422787" y="533400"/>
            <a:ext cx="8533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Methodology - Technical Pipeline</a:t>
            </a:r>
          </a:p>
          <a:p>
            <a:endParaRPr lang="en-IN" sz="2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8" name="Picture 7" descr="A diagram of a medical model&#10;&#10;AI-generated content may be incorrect.">
            <a:extLst>
              <a:ext uri="{FF2B5EF4-FFF2-40B4-BE49-F238E27FC236}">
                <a16:creationId xmlns:a16="http://schemas.microsoft.com/office/drawing/2014/main" id="{3FCCA49B-E602-BBF4-6653-1BB28F70B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7" y="1586046"/>
            <a:ext cx="8278066" cy="419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3021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A8C56-7F0B-A1A7-99F8-7DF1AF6EB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>
            <a:extLst>
              <a:ext uri="{FF2B5EF4-FFF2-40B4-BE49-F238E27FC236}">
                <a16:creationId xmlns:a16="http://schemas.microsoft.com/office/drawing/2014/main" id="{4B94E4C8-B83D-6B98-30BA-46ADA9702816}"/>
              </a:ext>
            </a:extLst>
          </p:cNvPr>
          <p:cNvSpPr/>
          <p:nvPr/>
        </p:nvSpPr>
        <p:spPr>
          <a:xfrm>
            <a:off x="457200" y="10668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939C75-1AA8-E6FD-6B59-48F5DD54AB6B}"/>
              </a:ext>
            </a:extLst>
          </p:cNvPr>
          <p:cNvSpPr txBox="1"/>
          <p:nvPr/>
        </p:nvSpPr>
        <p:spPr>
          <a:xfrm>
            <a:off x="422787" y="533400"/>
            <a:ext cx="8533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haroni" panose="02010803020104030203" pitchFamily="2" charset="-79"/>
                <a:cs typeface="Aharoni" panose="02010803020104030203" pitchFamily="2" charset="-79"/>
              </a:rPr>
              <a:t>Methodology - Technical Pipeline</a:t>
            </a:r>
          </a:p>
          <a:p>
            <a:endParaRPr lang="en-IN" sz="2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943C09-FE10-F2D5-7BD3-8F58CA876894}"/>
              </a:ext>
            </a:extLst>
          </p:cNvPr>
          <p:cNvSpPr txBox="1"/>
          <p:nvPr/>
        </p:nvSpPr>
        <p:spPr>
          <a:xfrm>
            <a:off x="723480" y="1745718"/>
            <a:ext cx="7848600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Processing Pipeline: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CT scan images from medical datasets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Resizing (256×256), normalization, augmentation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Two-phase approach (Feature extraction + Fine-tuning)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Fracture probability calculation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Heatmap generation using Grad-CAM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Vertebral Identification: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Anatomical mapping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Generation: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Comprehensive report with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6970822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533400" y="889575"/>
            <a:ext cx="8076360" cy="100425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5" name="TextBox 4"/>
          <p:cNvSpPr txBox="1"/>
          <p:nvPr/>
        </p:nvSpPr>
        <p:spPr>
          <a:xfrm>
            <a:off x="506361" y="304800"/>
            <a:ext cx="563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Base paper (URL)</a:t>
            </a:r>
            <a:endParaRPr lang="en-US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E48DB4-2DF8-3D5B-DD17-52E576EDBAC3}"/>
              </a:ext>
            </a:extLst>
          </p:cNvPr>
          <p:cNvSpPr txBox="1"/>
          <p:nvPr/>
        </p:nvSpPr>
        <p:spPr>
          <a:xfrm>
            <a:off x="533400" y="1447800"/>
            <a:ext cx="7467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9858E-30A3-EF95-88CF-CF21F73F6734}"/>
              </a:ext>
            </a:extLst>
          </p:cNvPr>
          <p:cNvSpPr txBox="1"/>
          <p:nvPr/>
        </p:nvSpPr>
        <p:spPr>
          <a:xfrm>
            <a:off x="762000" y="1600200"/>
            <a:ext cx="548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https://ieeexplore.ieee.org/document/10255157</a:t>
            </a: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https://ieeexplore.ieee.org/document/10522658</a:t>
            </a: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https://ieeexplore.ieee.org/document/10031629</a:t>
            </a: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449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533400" y="889575"/>
            <a:ext cx="8076360" cy="100425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5" name="TextBox 4"/>
          <p:cNvSpPr txBox="1"/>
          <p:nvPr/>
        </p:nvSpPr>
        <p:spPr>
          <a:xfrm>
            <a:off x="533400" y="304800"/>
            <a:ext cx="281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References</a:t>
            </a:r>
            <a:endParaRPr lang="en-IN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D3837C-367C-0A73-4EFC-FF8D9A870F57}"/>
              </a:ext>
            </a:extLst>
          </p:cNvPr>
          <p:cNvSpPr txBox="1"/>
          <p:nvPr/>
        </p:nvSpPr>
        <p:spPr>
          <a:xfrm>
            <a:off x="762000" y="1382018"/>
            <a:ext cx="7620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M. Patil and A. S. Gawande, “Detection of Cervical Spine Fracture Using Deep Learning with CT Imaging,” in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IEEE Int. Conf. on Smart Computing and Cyber Security (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ICoNSCi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2023, pp. 1–6,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https://ieeexplore.ieee.org/document/10255157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G. Bhat et al., “A Deep Learning-Based Two-Stage Approach for Detecting Cervical Spine Fractures,” in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IEEE Int. Conf. Computing, Communication and Intelligent Systems (ICCIAS)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2024, pp. 1–5,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https://ieeexplore.ieee.org/document/10522658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R. Kavitha, M. S. Vijayalakshmi, and D. Manoharan, “Cervical Spine Fracture Detection using Deep Convolutional Neural Networks on CT Scans,” in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IEEE Int. Conf. Communication and Signal Processing (ICCSP)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2023, pp. 1–5,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https://ieeexplore.ieee.org/document/10031629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A. Shah et al., “Cervical Spine Fracture Detection Using Deep Neural Networks on CT and MDCT Scans,” in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IEEE Int. Conf. Computing Methodologies and Communication (ICCMC)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2024, pp. 1–5,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https://ieeexplore.ieee.org/document/10426506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2A1EF-F52D-7AC0-2E67-6D6EA4114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>
            <a:extLst>
              <a:ext uri="{FF2B5EF4-FFF2-40B4-BE49-F238E27FC236}">
                <a16:creationId xmlns:a16="http://schemas.microsoft.com/office/drawing/2014/main" id="{95EF8585-8E94-3E51-7719-488EED15C07C}"/>
              </a:ext>
            </a:extLst>
          </p:cNvPr>
          <p:cNvSpPr/>
          <p:nvPr/>
        </p:nvSpPr>
        <p:spPr>
          <a:xfrm>
            <a:off x="533400" y="889575"/>
            <a:ext cx="8076360" cy="100425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7EEFB1-8C14-0220-BB0B-EC26487E1CCE}"/>
              </a:ext>
            </a:extLst>
          </p:cNvPr>
          <p:cNvSpPr txBox="1"/>
          <p:nvPr/>
        </p:nvSpPr>
        <p:spPr>
          <a:xfrm>
            <a:off x="533400" y="304800"/>
            <a:ext cx="281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References</a:t>
            </a:r>
            <a:endParaRPr lang="en-IN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E8A49D-0A67-759C-59DD-5FA1D069BAB2}"/>
              </a:ext>
            </a:extLst>
          </p:cNvPr>
          <p:cNvSpPr txBox="1"/>
          <p:nvPr/>
        </p:nvSpPr>
        <p:spPr>
          <a:xfrm>
            <a:off x="533400" y="1371600"/>
            <a:ext cx="81155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Technical Foundations </a:t>
            </a:r>
            <a:r>
              <a:rPr lang="en-US" b="1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&amp; Frameworks:</a:t>
            </a:r>
            <a:endParaRPr lang="en-US" dirty="0">
              <a:latin typeface="Times New Roman" panose="02020603050405020304" pitchFamily="18" charset="0"/>
              <a:ea typeface="STZhongsong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Howard, A. G., et al. (2017).</a:t>
            </a:r>
            <a:r>
              <a:rPr lang="en-US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 </a:t>
            </a:r>
            <a:r>
              <a:rPr lang="en-US" dirty="0" err="1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MobileNets</a:t>
            </a:r>
            <a:r>
              <a:rPr lang="en-US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: Efficient Convolutional Neural Networks for Mobile Vision Applications. </a:t>
            </a:r>
            <a:r>
              <a:rPr lang="en-US" i="1" dirty="0" err="1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arXiv</a:t>
            </a:r>
            <a:r>
              <a:rPr lang="en-US" i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 preprint arXiv:1704.04861</a:t>
            </a:r>
            <a:r>
              <a:rPr lang="en-US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Selvaraju, R. R., et al. (2017).</a:t>
            </a:r>
            <a:r>
              <a:rPr lang="en-US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 Grad-CAM: Visual Explanations from Deep Networks via Gradient-Based Localization. </a:t>
            </a:r>
            <a:r>
              <a:rPr lang="en-US" i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IEEE International Conference on Computer Vision (ICCV)</a:t>
            </a:r>
            <a:r>
              <a:rPr lang="en-US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Redmon, J., &amp; Farhadi, A. (2018).</a:t>
            </a:r>
            <a:r>
              <a:rPr lang="en-US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 YOLOv3: An Incremental Improvement. </a:t>
            </a:r>
            <a:r>
              <a:rPr lang="en-US" i="1" dirty="0" err="1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arXiv</a:t>
            </a:r>
            <a:r>
              <a:rPr lang="en-US" i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 preprint arXiv:1804.02767</a:t>
            </a:r>
            <a:r>
              <a:rPr lang="en-US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ea typeface="STZhongsong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Software &amp; Libraries</a:t>
            </a:r>
            <a:endParaRPr lang="en-US" dirty="0">
              <a:latin typeface="Times New Roman" panose="02020603050405020304" pitchFamily="18" charset="0"/>
              <a:ea typeface="STZhongsong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TensorFlow &amp; </a:t>
            </a:r>
            <a:r>
              <a:rPr lang="en-US" b="1" dirty="0" err="1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Keras</a:t>
            </a:r>
            <a:r>
              <a:rPr lang="en-US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 Teams.</a:t>
            </a:r>
            <a:r>
              <a:rPr lang="en-US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 TensorFlow: Large-Scale Machine Learning on Heterogeneous Systems. (2015). </a:t>
            </a:r>
            <a:r>
              <a:rPr lang="en-US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  <a:hlinkClick r:id="rId2"/>
              </a:rPr>
              <a:t>https://www.tensorflow.org/</a:t>
            </a:r>
            <a:endParaRPr lang="en-US" dirty="0">
              <a:latin typeface="Times New Roman" panose="02020603050405020304" pitchFamily="18" charset="0"/>
              <a:ea typeface="STZhongsong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 err="1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Streamlit</a:t>
            </a:r>
            <a:r>
              <a:rPr lang="en-US" b="1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 </a:t>
            </a:r>
            <a:r>
              <a:rPr lang="en-US" dirty="0" err="1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  <a:t>: The fastest way to build and share data apps. (2019). </a:t>
            </a:r>
            <a:r>
              <a:rPr lang="en-US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  <a:hlinkClick r:id="rId3"/>
              </a:rPr>
              <a:t>https://streamlit.io/</a:t>
            </a:r>
            <a:endParaRPr lang="en-US" dirty="0">
              <a:latin typeface="Times New Roman" panose="02020603050405020304" pitchFamily="18" charset="0"/>
              <a:ea typeface="STZhongsong" panose="02010600040101010101" pitchFamily="2" charset="-122"/>
              <a:cs typeface="Times New Roman" panose="02020603050405020304" pitchFamily="18" charset="0"/>
            </a:endParaRPr>
          </a:p>
          <a:p>
            <a:br>
              <a:rPr lang="en-US" dirty="0">
                <a:latin typeface="Times New Roman" panose="02020603050405020304" pitchFamily="18" charset="0"/>
                <a:ea typeface="STZhongsong" panose="02010600040101010101" pitchFamily="2" charset="-122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ea typeface="STZhongsong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6949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77255" y="3048000"/>
            <a:ext cx="5960286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10494</TotalTime>
  <Words>2161</Words>
  <Application>Microsoft Office PowerPoint</Application>
  <PresentationFormat>On-screen Show (4:3)</PresentationFormat>
  <Paragraphs>260</Paragraphs>
  <Slides>33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StarSymbol</vt:lpstr>
      <vt:lpstr>Aharoni</vt:lpstr>
      <vt:lpstr>Andalus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Hareen</dc:creator>
  <cp:lastModifiedBy>Shiva Shanker</cp:lastModifiedBy>
  <cp:revision>746</cp:revision>
  <dcterms:modified xsi:type="dcterms:W3CDTF">2026-04-14T16:03:36Z</dcterms:modified>
</cp:coreProperties>
</file>